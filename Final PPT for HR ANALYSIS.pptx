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 id="2147483713" r:id="rId2"/>
    <p:sldMasterId id="2147483725" r:id="rId3"/>
  </p:sldMasterIdLst>
  <p:sldIdLst>
    <p:sldId id="4024" r:id="rId4"/>
    <p:sldId id="259" r:id="rId5"/>
    <p:sldId id="270" r:id="rId6"/>
    <p:sldId id="261" r:id="rId7"/>
    <p:sldId id="271" r:id="rId8"/>
    <p:sldId id="263" r:id="rId9"/>
    <p:sldId id="4113" r:id="rId10"/>
    <p:sldId id="4114" r:id="rId11"/>
    <p:sldId id="4115" r:id="rId12"/>
    <p:sldId id="4116" r:id="rId13"/>
    <p:sldId id="4117" r:id="rId14"/>
    <p:sldId id="4118" r:id="rId15"/>
    <p:sldId id="278" r:id="rId16"/>
    <p:sldId id="273" r:id="rId17"/>
    <p:sldId id="274" r:id="rId18"/>
    <p:sldId id="275" r:id="rId19"/>
    <p:sldId id="411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ata2.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rawing2.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F57FC3-6DCE-41A3-92FD-3C543D582764}"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12692006-5A0A-4057-8BA7-BE10A17870F7}">
      <dgm:prSet/>
      <dgm:spPr/>
      <dgm:t>
        <a:bodyPr/>
        <a:lstStyle/>
        <a:p>
          <a:pPr>
            <a:lnSpc>
              <a:spcPct val="100000"/>
            </a:lnSpc>
            <a:defRPr cap="all"/>
          </a:pPr>
          <a:r>
            <a:rPr lang="en-IN" dirty="0">
              <a:latin typeface="Amasis MT Pro Medium" panose="02040604050005020304" pitchFamily="18" charset="0"/>
            </a:rPr>
            <a:t>Introduction &amp; Objective</a:t>
          </a:r>
          <a:endParaRPr lang="en-US" dirty="0">
            <a:latin typeface="Amasis MT Pro Medium" panose="02040604050005020304" pitchFamily="18" charset="0"/>
          </a:endParaRPr>
        </a:p>
      </dgm:t>
    </dgm:pt>
    <dgm:pt modelId="{0DD81470-204F-448E-87C9-E17648BA7007}" type="parTrans" cxnId="{EA7E01AC-6ED7-4841-974A-304DB4055489}">
      <dgm:prSet/>
      <dgm:spPr/>
      <dgm:t>
        <a:bodyPr/>
        <a:lstStyle/>
        <a:p>
          <a:endParaRPr lang="en-US"/>
        </a:p>
      </dgm:t>
    </dgm:pt>
    <dgm:pt modelId="{F2452B45-2DA7-4172-810E-4A0E1D89BAE0}" type="sibTrans" cxnId="{EA7E01AC-6ED7-4841-974A-304DB4055489}">
      <dgm:prSet/>
      <dgm:spPr/>
      <dgm:t>
        <a:bodyPr/>
        <a:lstStyle/>
        <a:p>
          <a:pPr>
            <a:lnSpc>
              <a:spcPct val="100000"/>
            </a:lnSpc>
          </a:pPr>
          <a:endParaRPr lang="en-US"/>
        </a:p>
      </dgm:t>
    </dgm:pt>
    <dgm:pt modelId="{FB6C8AAF-A113-4121-89FF-AFD06A2E4CB6}">
      <dgm:prSet custT="1"/>
      <dgm:spPr/>
      <dgm:t>
        <a:bodyPr/>
        <a:lstStyle/>
        <a:p>
          <a:pPr>
            <a:lnSpc>
              <a:spcPct val="100000"/>
            </a:lnSpc>
            <a:defRPr cap="all"/>
          </a:pPr>
          <a:r>
            <a:rPr lang="en-IN" sz="1500" dirty="0">
              <a:latin typeface="Amasis MT Pro Medium" panose="02040604050005020304" pitchFamily="18" charset="0"/>
            </a:rPr>
            <a:t>Business Objective</a:t>
          </a:r>
          <a:endParaRPr lang="en-US" sz="1500" dirty="0">
            <a:latin typeface="Amasis MT Pro Medium" panose="02040604050005020304" pitchFamily="18" charset="0"/>
          </a:endParaRPr>
        </a:p>
      </dgm:t>
    </dgm:pt>
    <dgm:pt modelId="{B3074B51-271E-429A-BBA7-9A9736FA7D47}" type="parTrans" cxnId="{999948C4-933D-4B2E-863A-CC9E1BF8E33D}">
      <dgm:prSet/>
      <dgm:spPr/>
      <dgm:t>
        <a:bodyPr/>
        <a:lstStyle/>
        <a:p>
          <a:endParaRPr lang="en-US"/>
        </a:p>
      </dgm:t>
    </dgm:pt>
    <dgm:pt modelId="{B0171E78-1805-47F2-84AF-B7B05BA50A20}" type="sibTrans" cxnId="{999948C4-933D-4B2E-863A-CC9E1BF8E33D}">
      <dgm:prSet/>
      <dgm:spPr/>
      <dgm:t>
        <a:bodyPr/>
        <a:lstStyle/>
        <a:p>
          <a:pPr>
            <a:lnSpc>
              <a:spcPct val="100000"/>
            </a:lnSpc>
          </a:pPr>
          <a:endParaRPr lang="en-US"/>
        </a:p>
      </dgm:t>
    </dgm:pt>
    <dgm:pt modelId="{5B857DEF-6B16-427C-9D8A-8BB8B0E75779}">
      <dgm:prSet/>
      <dgm:spPr/>
      <dgm:t>
        <a:bodyPr/>
        <a:lstStyle/>
        <a:p>
          <a:pPr>
            <a:lnSpc>
              <a:spcPct val="100000"/>
            </a:lnSpc>
            <a:defRPr cap="all"/>
          </a:pPr>
          <a:r>
            <a:rPr lang="en-IN" dirty="0">
              <a:latin typeface="Amasis MT Pro Medium" panose="02040604050005020304" pitchFamily="18" charset="0"/>
            </a:rPr>
            <a:t>KPIs</a:t>
          </a:r>
          <a:endParaRPr lang="en-US" dirty="0">
            <a:latin typeface="Amasis MT Pro Medium" panose="02040604050005020304" pitchFamily="18" charset="0"/>
          </a:endParaRPr>
        </a:p>
      </dgm:t>
    </dgm:pt>
    <dgm:pt modelId="{1D970D90-E7A4-4216-8EB7-5F0DD16A77B0}" type="parTrans" cxnId="{553AEEF7-EAD9-47B3-98DE-E872EEAD7EEA}">
      <dgm:prSet/>
      <dgm:spPr/>
      <dgm:t>
        <a:bodyPr/>
        <a:lstStyle/>
        <a:p>
          <a:endParaRPr lang="en-US"/>
        </a:p>
      </dgm:t>
    </dgm:pt>
    <dgm:pt modelId="{C9027E26-BD43-4C72-B341-A67E49108CB3}" type="sibTrans" cxnId="{553AEEF7-EAD9-47B3-98DE-E872EEAD7EEA}">
      <dgm:prSet/>
      <dgm:spPr/>
      <dgm:t>
        <a:bodyPr/>
        <a:lstStyle/>
        <a:p>
          <a:pPr>
            <a:lnSpc>
              <a:spcPct val="100000"/>
            </a:lnSpc>
          </a:pPr>
          <a:endParaRPr lang="en-US"/>
        </a:p>
      </dgm:t>
    </dgm:pt>
    <dgm:pt modelId="{42A89EE8-11D2-4851-BB98-F4B8D6368DB5}">
      <dgm:prSet/>
      <dgm:spPr/>
      <dgm:t>
        <a:bodyPr/>
        <a:lstStyle/>
        <a:p>
          <a:pPr>
            <a:lnSpc>
              <a:spcPct val="100000"/>
            </a:lnSpc>
            <a:defRPr cap="all"/>
          </a:pPr>
          <a:r>
            <a:rPr lang="en-IN" dirty="0">
              <a:latin typeface="Amasis MT Pro Medium" panose="02040604050005020304" pitchFamily="18" charset="0"/>
            </a:rPr>
            <a:t>Dashboard</a:t>
          </a:r>
          <a:endParaRPr lang="en-US" dirty="0">
            <a:latin typeface="Amasis MT Pro Medium" panose="02040604050005020304" pitchFamily="18" charset="0"/>
          </a:endParaRPr>
        </a:p>
      </dgm:t>
    </dgm:pt>
    <dgm:pt modelId="{931B76A9-F2DD-4A4B-B8AB-74E1A82571D2}" type="parTrans" cxnId="{8A1BA6E6-2D1C-4351-A295-3DA16CE15CEC}">
      <dgm:prSet/>
      <dgm:spPr/>
      <dgm:t>
        <a:bodyPr/>
        <a:lstStyle/>
        <a:p>
          <a:endParaRPr lang="en-US"/>
        </a:p>
      </dgm:t>
    </dgm:pt>
    <dgm:pt modelId="{4B4EA075-2719-48BE-A86E-6C2C27BE0D40}" type="sibTrans" cxnId="{8A1BA6E6-2D1C-4351-A295-3DA16CE15CEC}">
      <dgm:prSet/>
      <dgm:spPr/>
      <dgm:t>
        <a:bodyPr/>
        <a:lstStyle/>
        <a:p>
          <a:pPr>
            <a:lnSpc>
              <a:spcPct val="100000"/>
            </a:lnSpc>
          </a:pPr>
          <a:endParaRPr lang="en-US"/>
        </a:p>
      </dgm:t>
    </dgm:pt>
    <dgm:pt modelId="{E729FD1C-9D84-4B80-BAB7-70366BC2565C}">
      <dgm:prSet/>
      <dgm:spPr/>
      <dgm:t>
        <a:bodyPr/>
        <a:lstStyle/>
        <a:p>
          <a:pPr>
            <a:lnSpc>
              <a:spcPct val="100000"/>
            </a:lnSpc>
            <a:defRPr cap="all"/>
          </a:pPr>
          <a:r>
            <a:rPr lang="en-IN" dirty="0">
              <a:latin typeface="Amasis MT Pro Medium" panose="02040604050005020304" pitchFamily="18" charset="0"/>
            </a:rPr>
            <a:t>Conclusion</a:t>
          </a:r>
          <a:endParaRPr lang="en-US" dirty="0">
            <a:latin typeface="Amasis MT Pro Medium" panose="02040604050005020304" pitchFamily="18" charset="0"/>
          </a:endParaRPr>
        </a:p>
      </dgm:t>
    </dgm:pt>
    <dgm:pt modelId="{D33D71D9-7C8D-47A0-B8E6-E0C9AD15D6A8}" type="parTrans" cxnId="{46DA169B-C097-420A-A0E7-EDAA4CE5BB7F}">
      <dgm:prSet/>
      <dgm:spPr/>
      <dgm:t>
        <a:bodyPr/>
        <a:lstStyle/>
        <a:p>
          <a:endParaRPr lang="en-US"/>
        </a:p>
      </dgm:t>
    </dgm:pt>
    <dgm:pt modelId="{0437266C-D4AB-4283-B415-0D5B0D732353}" type="sibTrans" cxnId="{46DA169B-C097-420A-A0E7-EDAA4CE5BB7F}">
      <dgm:prSet/>
      <dgm:spPr/>
      <dgm:t>
        <a:bodyPr/>
        <a:lstStyle/>
        <a:p>
          <a:endParaRPr lang="en-US"/>
        </a:p>
      </dgm:t>
    </dgm:pt>
    <dgm:pt modelId="{7E473F42-FB9C-4D50-A6FA-A7BF44D17A81}" type="pres">
      <dgm:prSet presAssocID="{52F57FC3-6DCE-41A3-92FD-3C543D582764}" presName="root" presStyleCnt="0">
        <dgm:presLayoutVars>
          <dgm:dir/>
          <dgm:resizeHandles val="exact"/>
        </dgm:presLayoutVars>
      </dgm:prSet>
      <dgm:spPr/>
    </dgm:pt>
    <dgm:pt modelId="{D1BD0552-8236-492D-94D8-FB4F0D520E6B}" type="pres">
      <dgm:prSet presAssocID="{12692006-5A0A-4057-8BA7-BE10A17870F7}" presName="compNode" presStyleCnt="0"/>
      <dgm:spPr/>
    </dgm:pt>
    <dgm:pt modelId="{AA306FAA-6C0E-4935-AB43-12D28C3B1AAB}" type="pres">
      <dgm:prSet presAssocID="{12692006-5A0A-4057-8BA7-BE10A17870F7}" presName="iconBgRect" presStyleLbl="bgShp" presStyleIdx="0" presStyleCnt="5"/>
      <dgm:spPr/>
    </dgm:pt>
    <dgm:pt modelId="{AD7AB92A-4DF5-4962-933E-50B93E0A4166}" type="pres">
      <dgm:prSet presAssocID="{12692006-5A0A-4057-8BA7-BE10A17870F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E75760D4-A7C7-4F9A-8418-B07157112F02}" type="pres">
      <dgm:prSet presAssocID="{12692006-5A0A-4057-8BA7-BE10A17870F7}" presName="spaceRect" presStyleCnt="0"/>
      <dgm:spPr/>
    </dgm:pt>
    <dgm:pt modelId="{84BA2DD6-8D83-493F-9054-0A9644AF6839}" type="pres">
      <dgm:prSet presAssocID="{12692006-5A0A-4057-8BA7-BE10A17870F7}" presName="textRect" presStyleLbl="revTx" presStyleIdx="0" presStyleCnt="5">
        <dgm:presLayoutVars>
          <dgm:chMax val="1"/>
          <dgm:chPref val="1"/>
        </dgm:presLayoutVars>
      </dgm:prSet>
      <dgm:spPr/>
    </dgm:pt>
    <dgm:pt modelId="{5392952E-9370-43A5-8CC9-7D9F9DD0EE27}" type="pres">
      <dgm:prSet presAssocID="{F2452B45-2DA7-4172-810E-4A0E1D89BAE0}" presName="sibTrans" presStyleCnt="0"/>
      <dgm:spPr/>
    </dgm:pt>
    <dgm:pt modelId="{42F35C07-8825-4285-A6D3-6EC57D189DF7}" type="pres">
      <dgm:prSet presAssocID="{FB6C8AAF-A113-4121-89FF-AFD06A2E4CB6}" presName="compNode" presStyleCnt="0"/>
      <dgm:spPr/>
    </dgm:pt>
    <dgm:pt modelId="{8B7B898D-4F51-4B41-B439-94C166BD9C6C}" type="pres">
      <dgm:prSet presAssocID="{FB6C8AAF-A113-4121-89FF-AFD06A2E4CB6}" presName="iconBgRect" presStyleLbl="bgShp" presStyleIdx="1" presStyleCnt="5"/>
      <dgm:spPr/>
    </dgm:pt>
    <dgm:pt modelId="{3C472F9E-6950-4F55-A26E-2D8CEA53AFC8}" type="pres">
      <dgm:prSet presAssocID="{FB6C8AAF-A113-4121-89FF-AFD06A2E4CB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llseye"/>
        </a:ext>
      </dgm:extLst>
    </dgm:pt>
    <dgm:pt modelId="{F4771942-D105-4A2C-AE3C-BA6405535AA7}" type="pres">
      <dgm:prSet presAssocID="{FB6C8AAF-A113-4121-89FF-AFD06A2E4CB6}" presName="spaceRect" presStyleCnt="0"/>
      <dgm:spPr/>
    </dgm:pt>
    <dgm:pt modelId="{2274C79D-76D2-4369-90D1-52E36556FA66}" type="pres">
      <dgm:prSet presAssocID="{FB6C8AAF-A113-4121-89FF-AFD06A2E4CB6}" presName="textRect" presStyleLbl="revTx" presStyleIdx="1" presStyleCnt="5">
        <dgm:presLayoutVars>
          <dgm:chMax val="1"/>
          <dgm:chPref val="1"/>
        </dgm:presLayoutVars>
      </dgm:prSet>
      <dgm:spPr/>
    </dgm:pt>
    <dgm:pt modelId="{87CC4F69-A980-48D3-97B8-BF200C5CA99E}" type="pres">
      <dgm:prSet presAssocID="{B0171E78-1805-47F2-84AF-B7B05BA50A20}" presName="sibTrans" presStyleCnt="0"/>
      <dgm:spPr/>
    </dgm:pt>
    <dgm:pt modelId="{2F042DD6-A1B4-448C-AE87-D06A9006AB78}" type="pres">
      <dgm:prSet presAssocID="{5B857DEF-6B16-427C-9D8A-8BB8B0E75779}" presName="compNode" presStyleCnt="0"/>
      <dgm:spPr/>
    </dgm:pt>
    <dgm:pt modelId="{D5E67B1E-EF75-48A2-A54B-770EBDCF9CB8}" type="pres">
      <dgm:prSet presAssocID="{5B857DEF-6B16-427C-9D8A-8BB8B0E75779}" presName="iconBgRect" presStyleLbl="bgShp" presStyleIdx="2" presStyleCnt="5"/>
      <dgm:spPr/>
    </dgm:pt>
    <dgm:pt modelId="{418D2344-C672-4E46-9858-7D31B2CDF56F}" type="pres">
      <dgm:prSet presAssocID="{5B857DEF-6B16-427C-9D8A-8BB8B0E7577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r chart"/>
        </a:ext>
      </dgm:extLst>
    </dgm:pt>
    <dgm:pt modelId="{28739035-FA6A-44D8-A713-C71C73DB4FB0}" type="pres">
      <dgm:prSet presAssocID="{5B857DEF-6B16-427C-9D8A-8BB8B0E75779}" presName="spaceRect" presStyleCnt="0"/>
      <dgm:spPr/>
    </dgm:pt>
    <dgm:pt modelId="{63FADC6C-1B5C-472F-9930-515DCB293558}" type="pres">
      <dgm:prSet presAssocID="{5B857DEF-6B16-427C-9D8A-8BB8B0E75779}" presName="textRect" presStyleLbl="revTx" presStyleIdx="2" presStyleCnt="5">
        <dgm:presLayoutVars>
          <dgm:chMax val="1"/>
          <dgm:chPref val="1"/>
        </dgm:presLayoutVars>
      </dgm:prSet>
      <dgm:spPr/>
    </dgm:pt>
    <dgm:pt modelId="{5641BA45-2C68-4FAB-954C-D62DAEEDC702}" type="pres">
      <dgm:prSet presAssocID="{C9027E26-BD43-4C72-B341-A67E49108CB3}" presName="sibTrans" presStyleCnt="0"/>
      <dgm:spPr/>
    </dgm:pt>
    <dgm:pt modelId="{55CA2A66-91E8-4EF7-844C-C48D683DA391}" type="pres">
      <dgm:prSet presAssocID="{42A89EE8-11D2-4851-BB98-F4B8D6368DB5}" presName="compNode" presStyleCnt="0"/>
      <dgm:spPr/>
    </dgm:pt>
    <dgm:pt modelId="{640772AC-DF26-41A8-8780-4366CD6C54FA}" type="pres">
      <dgm:prSet presAssocID="{42A89EE8-11D2-4851-BB98-F4B8D6368DB5}" presName="iconBgRect" presStyleLbl="bgShp" presStyleIdx="3" presStyleCnt="5"/>
      <dgm:spPr/>
    </dgm:pt>
    <dgm:pt modelId="{A291A885-72D6-40EA-A71D-FEE06F427491}" type="pres">
      <dgm:prSet presAssocID="{42A89EE8-11D2-4851-BB98-F4B8D6368DB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Gauge"/>
        </a:ext>
      </dgm:extLst>
    </dgm:pt>
    <dgm:pt modelId="{C9459BB6-7B35-4656-B2BC-C8F06068C362}" type="pres">
      <dgm:prSet presAssocID="{42A89EE8-11D2-4851-BB98-F4B8D6368DB5}" presName="spaceRect" presStyleCnt="0"/>
      <dgm:spPr/>
    </dgm:pt>
    <dgm:pt modelId="{06646A4D-0E91-4F3E-86D5-3A50EA5AE283}" type="pres">
      <dgm:prSet presAssocID="{42A89EE8-11D2-4851-BB98-F4B8D6368DB5}" presName="textRect" presStyleLbl="revTx" presStyleIdx="3" presStyleCnt="5">
        <dgm:presLayoutVars>
          <dgm:chMax val="1"/>
          <dgm:chPref val="1"/>
        </dgm:presLayoutVars>
      </dgm:prSet>
      <dgm:spPr/>
    </dgm:pt>
    <dgm:pt modelId="{3B88EBCF-5D08-438C-8977-7C40437347F2}" type="pres">
      <dgm:prSet presAssocID="{4B4EA075-2719-48BE-A86E-6C2C27BE0D40}" presName="sibTrans" presStyleCnt="0"/>
      <dgm:spPr/>
    </dgm:pt>
    <dgm:pt modelId="{81598963-A178-4A4C-81CC-7278F8F97AC9}" type="pres">
      <dgm:prSet presAssocID="{E729FD1C-9D84-4B80-BAB7-70366BC2565C}" presName="compNode" presStyleCnt="0"/>
      <dgm:spPr/>
    </dgm:pt>
    <dgm:pt modelId="{D75E3BB3-9F68-4512-94AA-0953F514D933}" type="pres">
      <dgm:prSet presAssocID="{E729FD1C-9D84-4B80-BAB7-70366BC2565C}" presName="iconBgRect" presStyleLbl="bgShp" presStyleIdx="4" presStyleCnt="5"/>
      <dgm:spPr/>
    </dgm:pt>
    <dgm:pt modelId="{F7A87F04-F312-4E79-99F0-E2901F8B965B}" type="pres">
      <dgm:prSet presAssocID="{E729FD1C-9D84-4B80-BAB7-70366BC2565C}"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Gavel"/>
        </a:ext>
      </dgm:extLst>
    </dgm:pt>
    <dgm:pt modelId="{DC3DEE84-3E6C-4933-8FCA-B6E5E5E2F232}" type="pres">
      <dgm:prSet presAssocID="{E729FD1C-9D84-4B80-BAB7-70366BC2565C}" presName="spaceRect" presStyleCnt="0"/>
      <dgm:spPr/>
    </dgm:pt>
    <dgm:pt modelId="{DC1A6CA3-986B-4564-899C-19BD37D429A2}" type="pres">
      <dgm:prSet presAssocID="{E729FD1C-9D84-4B80-BAB7-70366BC2565C}" presName="textRect" presStyleLbl="revTx" presStyleIdx="4" presStyleCnt="5">
        <dgm:presLayoutVars>
          <dgm:chMax val="1"/>
          <dgm:chPref val="1"/>
        </dgm:presLayoutVars>
      </dgm:prSet>
      <dgm:spPr/>
    </dgm:pt>
  </dgm:ptLst>
  <dgm:cxnLst>
    <dgm:cxn modelId="{0BAF162C-C359-4C31-89D0-C13B9953C525}" type="presOf" srcId="{12692006-5A0A-4057-8BA7-BE10A17870F7}" destId="{84BA2DD6-8D83-493F-9054-0A9644AF6839}" srcOrd="0" destOrd="0" presId="urn:microsoft.com/office/officeart/2018/5/layout/IconCircleLabelList"/>
    <dgm:cxn modelId="{DFF4355B-D370-4FAF-A6F8-D3559DE2554B}" type="presOf" srcId="{42A89EE8-11D2-4851-BB98-F4B8D6368DB5}" destId="{06646A4D-0E91-4F3E-86D5-3A50EA5AE283}" srcOrd="0" destOrd="0" presId="urn:microsoft.com/office/officeart/2018/5/layout/IconCircleLabelList"/>
    <dgm:cxn modelId="{32F3C770-9291-4784-B9A0-3526775797F1}" type="presOf" srcId="{52F57FC3-6DCE-41A3-92FD-3C543D582764}" destId="{7E473F42-FB9C-4D50-A6FA-A7BF44D17A81}" srcOrd="0" destOrd="0" presId="urn:microsoft.com/office/officeart/2018/5/layout/IconCircleLabelList"/>
    <dgm:cxn modelId="{11B82482-441B-45A4-B7DE-CA9E956C7067}" type="presOf" srcId="{5B857DEF-6B16-427C-9D8A-8BB8B0E75779}" destId="{63FADC6C-1B5C-472F-9930-515DCB293558}" srcOrd="0" destOrd="0" presId="urn:microsoft.com/office/officeart/2018/5/layout/IconCircleLabelList"/>
    <dgm:cxn modelId="{46DA169B-C097-420A-A0E7-EDAA4CE5BB7F}" srcId="{52F57FC3-6DCE-41A3-92FD-3C543D582764}" destId="{E729FD1C-9D84-4B80-BAB7-70366BC2565C}" srcOrd="4" destOrd="0" parTransId="{D33D71D9-7C8D-47A0-B8E6-E0C9AD15D6A8}" sibTransId="{0437266C-D4AB-4283-B415-0D5B0D732353}"/>
    <dgm:cxn modelId="{EA7E01AC-6ED7-4841-974A-304DB4055489}" srcId="{52F57FC3-6DCE-41A3-92FD-3C543D582764}" destId="{12692006-5A0A-4057-8BA7-BE10A17870F7}" srcOrd="0" destOrd="0" parTransId="{0DD81470-204F-448E-87C9-E17648BA7007}" sibTransId="{F2452B45-2DA7-4172-810E-4A0E1D89BAE0}"/>
    <dgm:cxn modelId="{B24B29BF-F5E9-4BCD-BFDB-F6252C56C724}" type="presOf" srcId="{E729FD1C-9D84-4B80-BAB7-70366BC2565C}" destId="{DC1A6CA3-986B-4564-899C-19BD37D429A2}" srcOrd="0" destOrd="0" presId="urn:microsoft.com/office/officeart/2018/5/layout/IconCircleLabelList"/>
    <dgm:cxn modelId="{999948C4-933D-4B2E-863A-CC9E1BF8E33D}" srcId="{52F57FC3-6DCE-41A3-92FD-3C543D582764}" destId="{FB6C8AAF-A113-4121-89FF-AFD06A2E4CB6}" srcOrd="1" destOrd="0" parTransId="{B3074B51-271E-429A-BBA7-9A9736FA7D47}" sibTransId="{B0171E78-1805-47F2-84AF-B7B05BA50A20}"/>
    <dgm:cxn modelId="{7A2BD2DF-F2F2-473A-875E-0300F035697C}" type="presOf" srcId="{FB6C8AAF-A113-4121-89FF-AFD06A2E4CB6}" destId="{2274C79D-76D2-4369-90D1-52E36556FA66}" srcOrd="0" destOrd="0" presId="urn:microsoft.com/office/officeart/2018/5/layout/IconCircleLabelList"/>
    <dgm:cxn modelId="{8A1BA6E6-2D1C-4351-A295-3DA16CE15CEC}" srcId="{52F57FC3-6DCE-41A3-92FD-3C543D582764}" destId="{42A89EE8-11D2-4851-BB98-F4B8D6368DB5}" srcOrd="3" destOrd="0" parTransId="{931B76A9-F2DD-4A4B-B8AB-74E1A82571D2}" sibTransId="{4B4EA075-2719-48BE-A86E-6C2C27BE0D40}"/>
    <dgm:cxn modelId="{553AEEF7-EAD9-47B3-98DE-E872EEAD7EEA}" srcId="{52F57FC3-6DCE-41A3-92FD-3C543D582764}" destId="{5B857DEF-6B16-427C-9D8A-8BB8B0E75779}" srcOrd="2" destOrd="0" parTransId="{1D970D90-E7A4-4216-8EB7-5F0DD16A77B0}" sibTransId="{C9027E26-BD43-4C72-B341-A67E49108CB3}"/>
    <dgm:cxn modelId="{02C01B74-93BA-4335-B0C4-CC1272BB1B34}" type="presParOf" srcId="{7E473F42-FB9C-4D50-A6FA-A7BF44D17A81}" destId="{D1BD0552-8236-492D-94D8-FB4F0D520E6B}" srcOrd="0" destOrd="0" presId="urn:microsoft.com/office/officeart/2018/5/layout/IconCircleLabelList"/>
    <dgm:cxn modelId="{73C95C15-A686-4ECD-B1CA-16D08A9F9511}" type="presParOf" srcId="{D1BD0552-8236-492D-94D8-FB4F0D520E6B}" destId="{AA306FAA-6C0E-4935-AB43-12D28C3B1AAB}" srcOrd="0" destOrd="0" presId="urn:microsoft.com/office/officeart/2018/5/layout/IconCircleLabelList"/>
    <dgm:cxn modelId="{4EC182DC-ED47-4596-96CB-B436DDADB66E}" type="presParOf" srcId="{D1BD0552-8236-492D-94D8-FB4F0D520E6B}" destId="{AD7AB92A-4DF5-4962-933E-50B93E0A4166}" srcOrd="1" destOrd="0" presId="urn:microsoft.com/office/officeart/2018/5/layout/IconCircleLabelList"/>
    <dgm:cxn modelId="{1597A6BA-43C9-4B9C-8F32-65FCF7462EE1}" type="presParOf" srcId="{D1BD0552-8236-492D-94D8-FB4F0D520E6B}" destId="{E75760D4-A7C7-4F9A-8418-B07157112F02}" srcOrd="2" destOrd="0" presId="urn:microsoft.com/office/officeart/2018/5/layout/IconCircleLabelList"/>
    <dgm:cxn modelId="{83F27295-5E7A-43D4-A633-B77F1E516862}" type="presParOf" srcId="{D1BD0552-8236-492D-94D8-FB4F0D520E6B}" destId="{84BA2DD6-8D83-493F-9054-0A9644AF6839}" srcOrd="3" destOrd="0" presId="urn:microsoft.com/office/officeart/2018/5/layout/IconCircleLabelList"/>
    <dgm:cxn modelId="{65D80FCC-035B-400E-B3D4-36CAC06CC8FC}" type="presParOf" srcId="{7E473F42-FB9C-4D50-A6FA-A7BF44D17A81}" destId="{5392952E-9370-43A5-8CC9-7D9F9DD0EE27}" srcOrd="1" destOrd="0" presId="urn:microsoft.com/office/officeart/2018/5/layout/IconCircleLabelList"/>
    <dgm:cxn modelId="{A616649A-6ED5-4BBA-8D68-949D30940D93}" type="presParOf" srcId="{7E473F42-FB9C-4D50-A6FA-A7BF44D17A81}" destId="{42F35C07-8825-4285-A6D3-6EC57D189DF7}" srcOrd="2" destOrd="0" presId="urn:microsoft.com/office/officeart/2018/5/layout/IconCircleLabelList"/>
    <dgm:cxn modelId="{47307F59-537B-4092-AEE9-D9501FBBFC75}" type="presParOf" srcId="{42F35C07-8825-4285-A6D3-6EC57D189DF7}" destId="{8B7B898D-4F51-4B41-B439-94C166BD9C6C}" srcOrd="0" destOrd="0" presId="urn:microsoft.com/office/officeart/2018/5/layout/IconCircleLabelList"/>
    <dgm:cxn modelId="{119B93A6-E2DB-49E6-A7EF-53CB0241CE16}" type="presParOf" srcId="{42F35C07-8825-4285-A6D3-6EC57D189DF7}" destId="{3C472F9E-6950-4F55-A26E-2D8CEA53AFC8}" srcOrd="1" destOrd="0" presId="urn:microsoft.com/office/officeart/2018/5/layout/IconCircleLabelList"/>
    <dgm:cxn modelId="{FFE2BB81-9741-4CC5-ACAC-E4B2579DC04D}" type="presParOf" srcId="{42F35C07-8825-4285-A6D3-6EC57D189DF7}" destId="{F4771942-D105-4A2C-AE3C-BA6405535AA7}" srcOrd="2" destOrd="0" presId="urn:microsoft.com/office/officeart/2018/5/layout/IconCircleLabelList"/>
    <dgm:cxn modelId="{5B7EA1D3-3314-4901-B2B9-5A4C053FA092}" type="presParOf" srcId="{42F35C07-8825-4285-A6D3-6EC57D189DF7}" destId="{2274C79D-76D2-4369-90D1-52E36556FA66}" srcOrd="3" destOrd="0" presId="urn:microsoft.com/office/officeart/2018/5/layout/IconCircleLabelList"/>
    <dgm:cxn modelId="{054AD7A6-154A-48DD-A014-BB155CB6EB10}" type="presParOf" srcId="{7E473F42-FB9C-4D50-A6FA-A7BF44D17A81}" destId="{87CC4F69-A980-48D3-97B8-BF200C5CA99E}" srcOrd="3" destOrd="0" presId="urn:microsoft.com/office/officeart/2018/5/layout/IconCircleLabelList"/>
    <dgm:cxn modelId="{62E914E4-D831-4716-87C2-CF8803E113B3}" type="presParOf" srcId="{7E473F42-FB9C-4D50-A6FA-A7BF44D17A81}" destId="{2F042DD6-A1B4-448C-AE87-D06A9006AB78}" srcOrd="4" destOrd="0" presId="urn:microsoft.com/office/officeart/2018/5/layout/IconCircleLabelList"/>
    <dgm:cxn modelId="{4B57A8FC-BCEE-4EA1-A732-4119016BBF27}" type="presParOf" srcId="{2F042DD6-A1B4-448C-AE87-D06A9006AB78}" destId="{D5E67B1E-EF75-48A2-A54B-770EBDCF9CB8}" srcOrd="0" destOrd="0" presId="urn:microsoft.com/office/officeart/2018/5/layout/IconCircleLabelList"/>
    <dgm:cxn modelId="{4E2F7ECA-4BF1-4BDC-B3F0-FF8678D05317}" type="presParOf" srcId="{2F042DD6-A1B4-448C-AE87-D06A9006AB78}" destId="{418D2344-C672-4E46-9858-7D31B2CDF56F}" srcOrd="1" destOrd="0" presId="urn:microsoft.com/office/officeart/2018/5/layout/IconCircleLabelList"/>
    <dgm:cxn modelId="{8C4C8EB9-30B0-4DDC-B13B-CF86D09F694E}" type="presParOf" srcId="{2F042DD6-A1B4-448C-AE87-D06A9006AB78}" destId="{28739035-FA6A-44D8-A713-C71C73DB4FB0}" srcOrd="2" destOrd="0" presId="urn:microsoft.com/office/officeart/2018/5/layout/IconCircleLabelList"/>
    <dgm:cxn modelId="{F5128540-55FB-46D0-89EC-8570D07E2A6C}" type="presParOf" srcId="{2F042DD6-A1B4-448C-AE87-D06A9006AB78}" destId="{63FADC6C-1B5C-472F-9930-515DCB293558}" srcOrd="3" destOrd="0" presId="urn:microsoft.com/office/officeart/2018/5/layout/IconCircleLabelList"/>
    <dgm:cxn modelId="{6964DE34-3575-494B-B321-E90D42B91844}" type="presParOf" srcId="{7E473F42-FB9C-4D50-A6FA-A7BF44D17A81}" destId="{5641BA45-2C68-4FAB-954C-D62DAEEDC702}" srcOrd="5" destOrd="0" presId="urn:microsoft.com/office/officeart/2018/5/layout/IconCircleLabelList"/>
    <dgm:cxn modelId="{C8C1E004-B482-43CC-974E-07549754D8E5}" type="presParOf" srcId="{7E473F42-FB9C-4D50-A6FA-A7BF44D17A81}" destId="{55CA2A66-91E8-4EF7-844C-C48D683DA391}" srcOrd="6" destOrd="0" presId="urn:microsoft.com/office/officeart/2018/5/layout/IconCircleLabelList"/>
    <dgm:cxn modelId="{4E8C8A2C-5E00-4AD9-87D3-48B04E3D4B3C}" type="presParOf" srcId="{55CA2A66-91E8-4EF7-844C-C48D683DA391}" destId="{640772AC-DF26-41A8-8780-4366CD6C54FA}" srcOrd="0" destOrd="0" presId="urn:microsoft.com/office/officeart/2018/5/layout/IconCircleLabelList"/>
    <dgm:cxn modelId="{953BBC4D-3079-4D82-B0E9-00EBEE21C082}" type="presParOf" srcId="{55CA2A66-91E8-4EF7-844C-C48D683DA391}" destId="{A291A885-72D6-40EA-A71D-FEE06F427491}" srcOrd="1" destOrd="0" presId="urn:microsoft.com/office/officeart/2018/5/layout/IconCircleLabelList"/>
    <dgm:cxn modelId="{5BC4BB3E-C66A-4053-B828-30681209E747}" type="presParOf" srcId="{55CA2A66-91E8-4EF7-844C-C48D683DA391}" destId="{C9459BB6-7B35-4656-B2BC-C8F06068C362}" srcOrd="2" destOrd="0" presId="urn:microsoft.com/office/officeart/2018/5/layout/IconCircleLabelList"/>
    <dgm:cxn modelId="{C93F0567-47F8-49AD-A373-CCD8A08D1F46}" type="presParOf" srcId="{55CA2A66-91E8-4EF7-844C-C48D683DA391}" destId="{06646A4D-0E91-4F3E-86D5-3A50EA5AE283}" srcOrd="3" destOrd="0" presId="urn:microsoft.com/office/officeart/2018/5/layout/IconCircleLabelList"/>
    <dgm:cxn modelId="{E13EE3F3-DF67-4A54-B1D1-4011BC2BF66B}" type="presParOf" srcId="{7E473F42-FB9C-4D50-A6FA-A7BF44D17A81}" destId="{3B88EBCF-5D08-438C-8977-7C40437347F2}" srcOrd="7" destOrd="0" presId="urn:microsoft.com/office/officeart/2018/5/layout/IconCircleLabelList"/>
    <dgm:cxn modelId="{560F3849-0B9C-48CD-8ADA-578ED992D65B}" type="presParOf" srcId="{7E473F42-FB9C-4D50-A6FA-A7BF44D17A81}" destId="{81598963-A178-4A4C-81CC-7278F8F97AC9}" srcOrd="8" destOrd="0" presId="urn:microsoft.com/office/officeart/2018/5/layout/IconCircleLabelList"/>
    <dgm:cxn modelId="{C4396F96-0AE8-4476-90BE-88F41261E448}" type="presParOf" srcId="{81598963-A178-4A4C-81CC-7278F8F97AC9}" destId="{D75E3BB3-9F68-4512-94AA-0953F514D933}" srcOrd="0" destOrd="0" presId="urn:microsoft.com/office/officeart/2018/5/layout/IconCircleLabelList"/>
    <dgm:cxn modelId="{BCBC6863-BF03-48E4-8E52-FB6FAAFE775E}" type="presParOf" srcId="{81598963-A178-4A4C-81CC-7278F8F97AC9}" destId="{F7A87F04-F312-4E79-99F0-E2901F8B965B}" srcOrd="1" destOrd="0" presId="urn:microsoft.com/office/officeart/2018/5/layout/IconCircleLabelList"/>
    <dgm:cxn modelId="{0F94F61B-71E3-4741-BD9F-09CB86D8C426}" type="presParOf" srcId="{81598963-A178-4A4C-81CC-7278F8F97AC9}" destId="{DC3DEE84-3E6C-4933-8FCA-B6E5E5E2F232}" srcOrd="2" destOrd="0" presId="urn:microsoft.com/office/officeart/2018/5/layout/IconCircleLabelList"/>
    <dgm:cxn modelId="{ADFF0A6C-008D-4BC0-8C65-BA879A2C5CE3}" type="presParOf" srcId="{81598963-A178-4A4C-81CC-7278F8F97AC9}" destId="{DC1A6CA3-986B-4564-899C-19BD37D429A2}"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F6514D2-ED29-4255-8DD3-233BD29375A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79D44DA-A849-447C-80B8-D85AA437A144}">
      <dgm:prSet custT="1"/>
      <dgm:spPr/>
      <dgm:t>
        <a:bodyPr/>
        <a:lstStyle/>
        <a:p>
          <a:pPr algn="ctr">
            <a:lnSpc>
              <a:spcPct val="100000"/>
            </a:lnSpc>
          </a:pPr>
          <a:r>
            <a:rPr lang="en-US" sz="2000" b="0" i="0" dirty="0"/>
            <a:t>Conduct stay interviews: Instead of exit interviews, conduct stay interviews with employees to gather feedback about the job.</a:t>
          </a:r>
          <a:endParaRPr lang="en-US" sz="2000" dirty="0"/>
        </a:p>
      </dgm:t>
    </dgm:pt>
    <dgm:pt modelId="{8559330C-3B52-48D1-8C5E-47B1EBC27028}" type="parTrans" cxnId="{81E60EC9-7ACB-4CF6-84FA-E56E55D0055D}">
      <dgm:prSet/>
      <dgm:spPr/>
      <dgm:t>
        <a:bodyPr/>
        <a:lstStyle/>
        <a:p>
          <a:endParaRPr lang="en-US"/>
        </a:p>
      </dgm:t>
    </dgm:pt>
    <dgm:pt modelId="{100B7237-87F1-4A74-A828-FF9C5AE6A4DF}" type="sibTrans" cxnId="{81E60EC9-7ACB-4CF6-84FA-E56E55D0055D}">
      <dgm:prSet/>
      <dgm:spPr/>
      <dgm:t>
        <a:bodyPr/>
        <a:lstStyle/>
        <a:p>
          <a:pPr>
            <a:lnSpc>
              <a:spcPct val="100000"/>
            </a:lnSpc>
          </a:pPr>
          <a:endParaRPr lang="en-US"/>
        </a:p>
      </dgm:t>
    </dgm:pt>
    <dgm:pt modelId="{D5EDE5F3-8F64-4A1B-AF4F-40020A16C4F1}">
      <dgm:prSet custT="1"/>
      <dgm:spPr/>
      <dgm:t>
        <a:bodyPr/>
        <a:lstStyle/>
        <a:p>
          <a:pPr algn="ctr">
            <a:lnSpc>
              <a:spcPct val="100000"/>
            </a:lnSpc>
          </a:pPr>
          <a:r>
            <a:rPr lang="en-US" sz="2000" b="0" i="0" dirty="0"/>
            <a:t>Improve employee engagement: Implement initiatives to improve employee engagement, such as regular feedback, recognition and rewards programs, and opportunities for career growth</a:t>
          </a:r>
          <a:r>
            <a:rPr lang="en-US" sz="2000" dirty="0"/>
            <a:t>.</a:t>
          </a:r>
        </a:p>
      </dgm:t>
    </dgm:pt>
    <dgm:pt modelId="{B5EDD9A9-C33B-4EE5-8A0E-09362637AE8E}" type="parTrans" cxnId="{CFCD71EB-5606-4221-BDBE-EA8BB0B6A49C}">
      <dgm:prSet/>
      <dgm:spPr/>
      <dgm:t>
        <a:bodyPr/>
        <a:lstStyle/>
        <a:p>
          <a:endParaRPr lang="en-US"/>
        </a:p>
      </dgm:t>
    </dgm:pt>
    <dgm:pt modelId="{2A70A06E-FBBD-44AF-9347-1739E2910E1F}" type="sibTrans" cxnId="{CFCD71EB-5606-4221-BDBE-EA8BB0B6A49C}">
      <dgm:prSet/>
      <dgm:spPr/>
      <dgm:t>
        <a:bodyPr/>
        <a:lstStyle/>
        <a:p>
          <a:pPr>
            <a:lnSpc>
              <a:spcPct val="100000"/>
            </a:lnSpc>
          </a:pPr>
          <a:endParaRPr lang="en-US"/>
        </a:p>
      </dgm:t>
    </dgm:pt>
    <dgm:pt modelId="{F46DF968-1C0F-4EC7-8656-EC6D6157A290}">
      <dgm:prSet custT="1"/>
      <dgm:spPr/>
      <dgm:t>
        <a:bodyPr/>
        <a:lstStyle/>
        <a:p>
          <a:pPr algn="ctr">
            <a:lnSpc>
              <a:spcPct val="100000"/>
            </a:lnSpc>
          </a:pPr>
          <a:r>
            <a:rPr lang="en-US" sz="2000" b="0" i="0" dirty="0"/>
            <a:t>Address workload issues: Ensure employees have manageable workloads by regularly monitoring and adjusting workloads to prevent burnout and overwhelm.</a:t>
          </a:r>
          <a:endParaRPr lang="en-US" sz="2000" dirty="0"/>
        </a:p>
      </dgm:t>
    </dgm:pt>
    <dgm:pt modelId="{C8C5539F-5DB1-4230-ACE9-0F447E5F27F0}" type="parTrans" cxnId="{C50C29A7-C82C-44E8-889E-F108A5B48E68}">
      <dgm:prSet/>
      <dgm:spPr/>
      <dgm:t>
        <a:bodyPr/>
        <a:lstStyle/>
        <a:p>
          <a:endParaRPr lang="en-US"/>
        </a:p>
      </dgm:t>
    </dgm:pt>
    <dgm:pt modelId="{E204B08A-0898-43F1-AD87-374DE6935361}" type="sibTrans" cxnId="{C50C29A7-C82C-44E8-889E-F108A5B48E68}">
      <dgm:prSet/>
      <dgm:spPr/>
      <dgm:t>
        <a:bodyPr/>
        <a:lstStyle/>
        <a:p>
          <a:pPr>
            <a:lnSpc>
              <a:spcPct val="100000"/>
            </a:lnSpc>
          </a:pPr>
          <a:endParaRPr lang="en-US"/>
        </a:p>
      </dgm:t>
    </dgm:pt>
    <dgm:pt modelId="{7AC09B67-08AB-44F1-9479-FA1D83F360C8}">
      <dgm:prSet custT="1"/>
      <dgm:spPr/>
      <dgm:t>
        <a:bodyPr/>
        <a:lstStyle/>
        <a:p>
          <a:pPr algn="ctr">
            <a:lnSpc>
              <a:spcPct val="100000"/>
            </a:lnSpc>
          </a:pPr>
          <a:r>
            <a:rPr lang="en-US" sz="1800" b="0" i="0" dirty="0"/>
            <a:t>Create a positive work environment: Foster a positive work environment by promoting a culture of respect, inclusivity, and teamwork. Encourage open communication and collaboration among employees.</a:t>
          </a:r>
          <a:endParaRPr lang="en-US" sz="1800" dirty="0"/>
        </a:p>
      </dgm:t>
    </dgm:pt>
    <dgm:pt modelId="{CEE117DE-75AC-4734-8A1F-55B079FAB27E}" type="parTrans" cxnId="{5E71B501-7666-4684-83C0-6BB893A2CF21}">
      <dgm:prSet/>
      <dgm:spPr/>
      <dgm:t>
        <a:bodyPr/>
        <a:lstStyle/>
        <a:p>
          <a:endParaRPr lang="en-US"/>
        </a:p>
      </dgm:t>
    </dgm:pt>
    <dgm:pt modelId="{A74E9CEF-F2EC-4932-A805-1C5E32C3D803}" type="sibTrans" cxnId="{5E71B501-7666-4684-83C0-6BB893A2CF21}">
      <dgm:prSet/>
      <dgm:spPr/>
      <dgm:t>
        <a:bodyPr/>
        <a:lstStyle/>
        <a:p>
          <a:pPr>
            <a:lnSpc>
              <a:spcPct val="100000"/>
            </a:lnSpc>
          </a:pPr>
          <a:endParaRPr lang="en-US"/>
        </a:p>
      </dgm:t>
    </dgm:pt>
    <dgm:pt modelId="{E9926D6A-4677-4603-BD6F-E83DC47CBC4F}">
      <dgm:prSet custT="1"/>
      <dgm:spPr/>
      <dgm:t>
        <a:bodyPr/>
        <a:lstStyle/>
        <a:p>
          <a:pPr algn="ctr">
            <a:lnSpc>
              <a:spcPct val="100000"/>
            </a:lnSpc>
          </a:pPr>
          <a:r>
            <a:rPr lang="en-US" sz="1800" b="0" i="0" dirty="0"/>
            <a:t>Address pay and compensation issues: Ensure that employees receive fair pay and compensation for their work and t</a:t>
          </a:r>
          <a:r>
            <a:rPr lang="en-US" sz="1800" dirty="0"/>
            <a:t>o find out what motivates an employee to continue to work in an organization.</a:t>
          </a:r>
        </a:p>
      </dgm:t>
    </dgm:pt>
    <dgm:pt modelId="{FFF3D7BE-DCA0-4559-9D66-E0D7499F9880}" type="parTrans" cxnId="{9BC097FD-E961-4E21-95AF-3FE885B98EF9}">
      <dgm:prSet/>
      <dgm:spPr/>
      <dgm:t>
        <a:bodyPr/>
        <a:lstStyle/>
        <a:p>
          <a:endParaRPr lang="en-US"/>
        </a:p>
      </dgm:t>
    </dgm:pt>
    <dgm:pt modelId="{EE0FD7F5-AB39-433B-A1D3-689AC58932CD}" type="sibTrans" cxnId="{9BC097FD-E961-4E21-95AF-3FE885B98EF9}">
      <dgm:prSet/>
      <dgm:spPr/>
      <dgm:t>
        <a:bodyPr/>
        <a:lstStyle/>
        <a:p>
          <a:endParaRPr lang="en-US"/>
        </a:p>
      </dgm:t>
    </dgm:pt>
    <dgm:pt modelId="{82D179F3-9F27-4AD3-994B-4D630B2A7D0E}" type="pres">
      <dgm:prSet presAssocID="{7F6514D2-ED29-4255-8DD3-233BD29375A3}" presName="root" presStyleCnt="0">
        <dgm:presLayoutVars>
          <dgm:dir/>
          <dgm:resizeHandles val="exact"/>
        </dgm:presLayoutVars>
      </dgm:prSet>
      <dgm:spPr/>
    </dgm:pt>
    <dgm:pt modelId="{A0202CA9-0C26-4FAF-8317-737803119154}" type="pres">
      <dgm:prSet presAssocID="{979D44DA-A849-447C-80B8-D85AA437A144}" presName="compNode" presStyleCnt="0"/>
      <dgm:spPr/>
    </dgm:pt>
    <dgm:pt modelId="{5642527A-CCB6-4829-88E3-7552B266EFAB}" type="pres">
      <dgm:prSet presAssocID="{979D44DA-A849-447C-80B8-D85AA437A144}" presName="bgRect" presStyleLbl="bgShp" presStyleIdx="0" presStyleCnt="5"/>
      <dgm:spPr/>
    </dgm:pt>
    <dgm:pt modelId="{B06E9D13-3C76-45C3-8931-E3693C602C60}" type="pres">
      <dgm:prSet presAssocID="{979D44DA-A849-447C-80B8-D85AA437A144}"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orkflow"/>
        </a:ext>
      </dgm:extLst>
    </dgm:pt>
    <dgm:pt modelId="{9B7537F8-ABA6-4076-9392-7FE9A7DF778A}" type="pres">
      <dgm:prSet presAssocID="{979D44DA-A849-447C-80B8-D85AA437A144}" presName="spaceRect" presStyleCnt="0"/>
      <dgm:spPr/>
    </dgm:pt>
    <dgm:pt modelId="{6D64BECF-0D1A-410A-8F1A-CCDAE9A6B1CE}" type="pres">
      <dgm:prSet presAssocID="{979D44DA-A849-447C-80B8-D85AA437A144}" presName="parTx" presStyleLbl="revTx" presStyleIdx="0" presStyleCnt="5">
        <dgm:presLayoutVars>
          <dgm:chMax val="0"/>
          <dgm:chPref val="0"/>
        </dgm:presLayoutVars>
      </dgm:prSet>
      <dgm:spPr/>
    </dgm:pt>
    <dgm:pt modelId="{9ED24C57-DCCD-4435-B4DB-3257213F2D68}" type="pres">
      <dgm:prSet presAssocID="{100B7237-87F1-4A74-A828-FF9C5AE6A4DF}" presName="sibTrans" presStyleCnt="0"/>
      <dgm:spPr/>
    </dgm:pt>
    <dgm:pt modelId="{BCF85146-BAD5-4312-A9F8-CBA4E17C2D95}" type="pres">
      <dgm:prSet presAssocID="{D5EDE5F3-8F64-4A1B-AF4F-40020A16C4F1}" presName="compNode" presStyleCnt="0"/>
      <dgm:spPr/>
    </dgm:pt>
    <dgm:pt modelId="{BFC3A43C-BCDB-4217-8A75-CCC1183668B5}" type="pres">
      <dgm:prSet presAssocID="{D5EDE5F3-8F64-4A1B-AF4F-40020A16C4F1}" presName="bgRect" presStyleLbl="bgShp" presStyleIdx="1" presStyleCnt="5" custLinFactNeighborX="0"/>
      <dgm:spPr/>
    </dgm:pt>
    <dgm:pt modelId="{618F2191-0ABC-400B-9F39-F02DFE1A6756}" type="pres">
      <dgm:prSet presAssocID="{D5EDE5F3-8F64-4A1B-AF4F-40020A16C4F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roup of People"/>
        </a:ext>
      </dgm:extLst>
    </dgm:pt>
    <dgm:pt modelId="{7A042F4E-5D8F-4627-A836-96417EED0104}" type="pres">
      <dgm:prSet presAssocID="{D5EDE5F3-8F64-4A1B-AF4F-40020A16C4F1}" presName="spaceRect" presStyleCnt="0"/>
      <dgm:spPr/>
    </dgm:pt>
    <dgm:pt modelId="{7AAF71C2-E556-429D-B688-B88B92F8AFD3}" type="pres">
      <dgm:prSet presAssocID="{D5EDE5F3-8F64-4A1B-AF4F-40020A16C4F1}" presName="parTx" presStyleLbl="revTx" presStyleIdx="1" presStyleCnt="5">
        <dgm:presLayoutVars>
          <dgm:chMax val="0"/>
          <dgm:chPref val="0"/>
        </dgm:presLayoutVars>
      </dgm:prSet>
      <dgm:spPr/>
    </dgm:pt>
    <dgm:pt modelId="{51DD5228-8DB8-4302-9A64-C059E1255783}" type="pres">
      <dgm:prSet presAssocID="{2A70A06E-FBBD-44AF-9347-1739E2910E1F}" presName="sibTrans" presStyleCnt="0"/>
      <dgm:spPr/>
    </dgm:pt>
    <dgm:pt modelId="{82AFED9C-0F4B-48EC-A88C-0B516EE43FC3}" type="pres">
      <dgm:prSet presAssocID="{F46DF968-1C0F-4EC7-8656-EC6D6157A290}" presName="compNode" presStyleCnt="0"/>
      <dgm:spPr/>
    </dgm:pt>
    <dgm:pt modelId="{A8E1718F-77A1-495C-808D-3B6F90B50A14}" type="pres">
      <dgm:prSet presAssocID="{F46DF968-1C0F-4EC7-8656-EC6D6157A290}" presName="bgRect" presStyleLbl="bgShp" presStyleIdx="2" presStyleCnt="5"/>
      <dgm:spPr/>
    </dgm:pt>
    <dgm:pt modelId="{02A001B9-CC7E-4D30-8A42-42401FCF2E5E}" type="pres">
      <dgm:prSet presAssocID="{F46DF968-1C0F-4EC7-8656-EC6D6157A29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usiness Growth"/>
        </a:ext>
      </dgm:extLst>
    </dgm:pt>
    <dgm:pt modelId="{49E95D16-8525-42FA-A7E0-4780846B2111}" type="pres">
      <dgm:prSet presAssocID="{F46DF968-1C0F-4EC7-8656-EC6D6157A290}" presName="spaceRect" presStyleCnt="0"/>
      <dgm:spPr/>
    </dgm:pt>
    <dgm:pt modelId="{7CBA4BF1-5BE7-4D48-AB8C-831BE404813F}" type="pres">
      <dgm:prSet presAssocID="{F46DF968-1C0F-4EC7-8656-EC6D6157A290}" presName="parTx" presStyleLbl="revTx" presStyleIdx="2" presStyleCnt="5">
        <dgm:presLayoutVars>
          <dgm:chMax val="0"/>
          <dgm:chPref val="0"/>
        </dgm:presLayoutVars>
      </dgm:prSet>
      <dgm:spPr/>
    </dgm:pt>
    <dgm:pt modelId="{C1D0750B-AB2F-4306-9002-C5ABE8C0A2BA}" type="pres">
      <dgm:prSet presAssocID="{E204B08A-0898-43F1-AD87-374DE6935361}" presName="sibTrans" presStyleCnt="0"/>
      <dgm:spPr/>
    </dgm:pt>
    <dgm:pt modelId="{F48709A7-D70C-45AD-B627-0FF146A87B1F}" type="pres">
      <dgm:prSet presAssocID="{7AC09B67-08AB-44F1-9479-FA1D83F360C8}" presName="compNode" presStyleCnt="0"/>
      <dgm:spPr/>
    </dgm:pt>
    <dgm:pt modelId="{9BEE6CFB-24F9-41CE-B772-C8332367E6E1}" type="pres">
      <dgm:prSet presAssocID="{7AC09B67-08AB-44F1-9479-FA1D83F360C8}" presName="bgRect" presStyleLbl="bgShp" presStyleIdx="3" presStyleCnt="5"/>
      <dgm:spPr/>
    </dgm:pt>
    <dgm:pt modelId="{ADEF7A08-80D8-4596-BA50-B479596CE6FE}" type="pres">
      <dgm:prSet presAssocID="{7AC09B67-08AB-44F1-9479-FA1D83F360C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onnections"/>
        </a:ext>
      </dgm:extLst>
    </dgm:pt>
    <dgm:pt modelId="{AFB8E5AC-0151-460F-A1FD-AF916BAB7DEB}" type="pres">
      <dgm:prSet presAssocID="{7AC09B67-08AB-44F1-9479-FA1D83F360C8}" presName="spaceRect" presStyleCnt="0"/>
      <dgm:spPr/>
    </dgm:pt>
    <dgm:pt modelId="{C6E1F057-43E6-4AAD-B399-BE1431F6946F}" type="pres">
      <dgm:prSet presAssocID="{7AC09B67-08AB-44F1-9479-FA1D83F360C8}" presName="parTx" presStyleLbl="revTx" presStyleIdx="3" presStyleCnt="5">
        <dgm:presLayoutVars>
          <dgm:chMax val="0"/>
          <dgm:chPref val="0"/>
        </dgm:presLayoutVars>
      </dgm:prSet>
      <dgm:spPr/>
    </dgm:pt>
    <dgm:pt modelId="{153FCBAD-35F9-4745-898D-E833C132E723}" type="pres">
      <dgm:prSet presAssocID="{A74E9CEF-F2EC-4932-A805-1C5E32C3D803}" presName="sibTrans" presStyleCnt="0"/>
      <dgm:spPr/>
    </dgm:pt>
    <dgm:pt modelId="{F7F0CFAB-63AF-48C3-BAD1-5E487FB2FF3B}" type="pres">
      <dgm:prSet presAssocID="{E9926D6A-4677-4603-BD6F-E83DC47CBC4F}" presName="compNode" presStyleCnt="0"/>
      <dgm:spPr/>
    </dgm:pt>
    <dgm:pt modelId="{49E30507-7FF7-4582-BA49-3BE38F2DFCD6}" type="pres">
      <dgm:prSet presAssocID="{E9926D6A-4677-4603-BD6F-E83DC47CBC4F}" presName="bgRect" presStyleLbl="bgShp" presStyleIdx="4" presStyleCnt="5" custLinFactNeighborX="0"/>
      <dgm:spPr/>
    </dgm:pt>
    <dgm:pt modelId="{BC0709E7-CF9F-4F6D-AB5D-FF51711F3DB7}" type="pres">
      <dgm:prSet presAssocID="{E9926D6A-4677-4603-BD6F-E83DC47CBC4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Upward trend"/>
        </a:ext>
      </dgm:extLst>
    </dgm:pt>
    <dgm:pt modelId="{818557AF-0518-424A-970F-F2B8D574CB21}" type="pres">
      <dgm:prSet presAssocID="{E9926D6A-4677-4603-BD6F-E83DC47CBC4F}" presName="spaceRect" presStyleCnt="0"/>
      <dgm:spPr/>
    </dgm:pt>
    <dgm:pt modelId="{A2C2242C-368F-46CC-A1D0-7676852EB348}" type="pres">
      <dgm:prSet presAssocID="{E9926D6A-4677-4603-BD6F-E83DC47CBC4F}" presName="parTx" presStyleLbl="revTx" presStyleIdx="4" presStyleCnt="5">
        <dgm:presLayoutVars>
          <dgm:chMax val="0"/>
          <dgm:chPref val="0"/>
        </dgm:presLayoutVars>
      </dgm:prSet>
      <dgm:spPr/>
    </dgm:pt>
  </dgm:ptLst>
  <dgm:cxnLst>
    <dgm:cxn modelId="{5E71B501-7666-4684-83C0-6BB893A2CF21}" srcId="{7F6514D2-ED29-4255-8DD3-233BD29375A3}" destId="{7AC09B67-08AB-44F1-9479-FA1D83F360C8}" srcOrd="3" destOrd="0" parTransId="{CEE117DE-75AC-4734-8A1F-55B079FAB27E}" sibTransId="{A74E9CEF-F2EC-4932-A805-1C5E32C3D803}"/>
    <dgm:cxn modelId="{C9E12F12-E748-47E2-9666-9CF960F8C675}" type="presOf" srcId="{7AC09B67-08AB-44F1-9479-FA1D83F360C8}" destId="{C6E1F057-43E6-4AAD-B399-BE1431F6946F}" srcOrd="0" destOrd="0" presId="urn:microsoft.com/office/officeart/2018/2/layout/IconVerticalSolidList"/>
    <dgm:cxn modelId="{D6CA9969-0268-48EA-B216-972BE1C6639B}" type="presOf" srcId="{7F6514D2-ED29-4255-8DD3-233BD29375A3}" destId="{82D179F3-9F27-4AD3-994B-4D630B2A7D0E}" srcOrd="0" destOrd="0" presId="urn:microsoft.com/office/officeart/2018/2/layout/IconVerticalSolidList"/>
    <dgm:cxn modelId="{9B3D4058-EA63-4F28-8EA4-3024083F950C}" type="presOf" srcId="{D5EDE5F3-8F64-4A1B-AF4F-40020A16C4F1}" destId="{7AAF71C2-E556-429D-B688-B88B92F8AFD3}" srcOrd="0" destOrd="0" presId="urn:microsoft.com/office/officeart/2018/2/layout/IconVerticalSolidList"/>
    <dgm:cxn modelId="{95A9637F-1DFE-4CB1-A296-00C86E32C026}" type="presOf" srcId="{979D44DA-A849-447C-80B8-D85AA437A144}" destId="{6D64BECF-0D1A-410A-8F1A-CCDAE9A6B1CE}" srcOrd="0" destOrd="0" presId="urn:microsoft.com/office/officeart/2018/2/layout/IconVerticalSolidList"/>
    <dgm:cxn modelId="{5A6F378C-B4E9-4AE2-99A5-9F1012EB7878}" type="presOf" srcId="{F46DF968-1C0F-4EC7-8656-EC6D6157A290}" destId="{7CBA4BF1-5BE7-4D48-AB8C-831BE404813F}" srcOrd="0" destOrd="0" presId="urn:microsoft.com/office/officeart/2018/2/layout/IconVerticalSolidList"/>
    <dgm:cxn modelId="{3D91EC8E-5F65-4CA8-8339-8F2838193B90}" type="presOf" srcId="{E9926D6A-4677-4603-BD6F-E83DC47CBC4F}" destId="{A2C2242C-368F-46CC-A1D0-7676852EB348}" srcOrd="0" destOrd="0" presId="urn:microsoft.com/office/officeart/2018/2/layout/IconVerticalSolidList"/>
    <dgm:cxn modelId="{C50C29A7-C82C-44E8-889E-F108A5B48E68}" srcId="{7F6514D2-ED29-4255-8DD3-233BD29375A3}" destId="{F46DF968-1C0F-4EC7-8656-EC6D6157A290}" srcOrd="2" destOrd="0" parTransId="{C8C5539F-5DB1-4230-ACE9-0F447E5F27F0}" sibTransId="{E204B08A-0898-43F1-AD87-374DE6935361}"/>
    <dgm:cxn modelId="{81E60EC9-7ACB-4CF6-84FA-E56E55D0055D}" srcId="{7F6514D2-ED29-4255-8DD3-233BD29375A3}" destId="{979D44DA-A849-447C-80B8-D85AA437A144}" srcOrd="0" destOrd="0" parTransId="{8559330C-3B52-48D1-8C5E-47B1EBC27028}" sibTransId="{100B7237-87F1-4A74-A828-FF9C5AE6A4DF}"/>
    <dgm:cxn modelId="{CFCD71EB-5606-4221-BDBE-EA8BB0B6A49C}" srcId="{7F6514D2-ED29-4255-8DD3-233BD29375A3}" destId="{D5EDE5F3-8F64-4A1B-AF4F-40020A16C4F1}" srcOrd="1" destOrd="0" parTransId="{B5EDD9A9-C33B-4EE5-8A0E-09362637AE8E}" sibTransId="{2A70A06E-FBBD-44AF-9347-1739E2910E1F}"/>
    <dgm:cxn modelId="{9BC097FD-E961-4E21-95AF-3FE885B98EF9}" srcId="{7F6514D2-ED29-4255-8DD3-233BD29375A3}" destId="{E9926D6A-4677-4603-BD6F-E83DC47CBC4F}" srcOrd="4" destOrd="0" parTransId="{FFF3D7BE-DCA0-4559-9D66-E0D7499F9880}" sibTransId="{EE0FD7F5-AB39-433B-A1D3-689AC58932CD}"/>
    <dgm:cxn modelId="{EA0E2400-53A9-4B62-AC0B-C0D4D9D15A3E}" type="presParOf" srcId="{82D179F3-9F27-4AD3-994B-4D630B2A7D0E}" destId="{A0202CA9-0C26-4FAF-8317-737803119154}" srcOrd="0" destOrd="0" presId="urn:microsoft.com/office/officeart/2018/2/layout/IconVerticalSolidList"/>
    <dgm:cxn modelId="{3780AECD-C8F7-432C-8063-B08F38976CA2}" type="presParOf" srcId="{A0202CA9-0C26-4FAF-8317-737803119154}" destId="{5642527A-CCB6-4829-88E3-7552B266EFAB}" srcOrd="0" destOrd="0" presId="urn:microsoft.com/office/officeart/2018/2/layout/IconVerticalSolidList"/>
    <dgm:cxn modelId="{68226B2A-17DB-4D04-807C-70BA9B8F43EA}" type="presParOf" srcId="{A0202CA9-0C26-4FAF-8317-737803119154}" destId="{B06E9D13-3C76-45C3-8931-E3693C602C60}" srcOrd="1" destOrd="0" presId="urn:microsoft.com/office/officeart/2018/2/layout/IconVerticalSolidList"/>
    <dgm:cxn modelId="{27D085A7-BA38-4597-8EF6-33FBB1C21821}" type="presParOf" srcId="{A0202CA9-0C26-4FAF-8317-737803119154}" destId="{9B7537F8-ABA6-4076-9392-7FE9A7DF778A}" srcOrd="2" destOrd="0" presId="urn:microsoft.com/office/officeart/2018/2/layout/IconVerticalSolidList"/>
    <dgm:cxn modelId="{F2A65DA0-2668-4E50-B52D-E96574A91DB7}" type="presParOf" srcId="{A0202CA9-0C26-4FAF-8317-737803119154}" destId="{6D64BECF-0D1A-410A-8F1A-CCDAE9A6B1CE}" srcOrd="3" destOrd="0" presId="urn:microsoft.com/office/officeart/2018/2/layout/IconVerticalSolidList"/>
    <dgm:cxn modelId="{690437E9-E18E-452E-A62E-5CD4441038A1}" type="presParOf" srcId="{82D179F3-9F27-4AD3-994B-4D630B2A7D0E}" destId="{9ED24C57-DCCD-4435-B4DB-3257213F2D68}" srcOrd="1" destOrd="0" presId="urn:microsoft.com/office/officeart/2018/2/layout/IconVerticalSolidList"/>
    <dgm:cxn modelId="{79C62400-5FD0-4747-B711-6FE3D2DB2F12}" type="presParOf" srcId="{82D179F3-9F27-4AD3-994B-4D630B2A7D0E}" destId="{BCF85146-BAD5-4312-A9F8-CBA4E17C2D95}" srcOrd="2" destOrd="0" presId="urn:microsoft.com/office/officeart/2018/2/layout/IconVerticalSolidList"/>
    <dgm:cxn modelId="{696126D7-4EF7-4C35-ADE3-DA212912D862}" type="presParOf" srcId="{BCF85146-BAD5-4312-A9F8-CBA4E17C2D95}" destId="{BFC3A43C-BCDB-4217-8A75-CCC1183668B5}" srcOrd="0" destOrd="0" presId="urn:microsoft.com/office/officeart/2018/2/layout/IconVerticalSolidList"/>
    <dgm:cxn modelId="{B62E5AFE-2B00-4A92-8DA5-72C11EA36FE6}" type="presParOf" srcId="{BCF85146-BAD5-4312-A9F8-CBA4E17C2D95}" destId="{618F2191-0ABC-400B-9F39-F02DFE1A6756}" srcOrd="1" destOrd="0" presId="urn:microsoft.com/office/officeart/2018/2/layout/IconVerticalSolidList"/>
    <dgm:cxn modelId="{B46B0A54-6E90-4953-B1E1-5F39FBD9B603}" type="presParOf" srcId="{BCF85146-BAD5-4312-A9F8-CBA4E17C2D95}" destId="{7A042F4E-5D8F-4627-A836-96417EED0104}" srcOrd="2" destOrd="0" presId="urn:microsoft.com/office/officeart/2018/2/layout/IconVerticalSolidList"/>
    <dgm:cxn modelId="{E56DFCCC-F9B5-4140-9B4F-FC67DCCBFA68}" type="presParOf" srcId="{BCF85146-BAD5-4312-A9F8-CBA4E17C2D95}" destId="{7AAF71C2-E556-429D-B688-B88B92F8AFD3}" srcOrd="3" destOrd="0" presId="urn:microsoft.com/office/officeart/2018/2/layout/IconVerticalSolidList"/>
    <dgm:cxn modelId="{1647CE63-ABDA-41C6-9CAA-FF65A35BAF76}" type="presParOf" srcId="{82D179F3-9F27-4AD3-994B-4D630B2A7D0E}" destId="{51DD5228-8DB8-4302-9A64-C059E1255783}" srcOrd="3" destOrd="0" presId="urn:microsoft.com/office/officeart/2018/2/layout/IconVerticalSolidList"/>
    <dgm:cxn modelId="{40340C58-A029-431E-B549-F3877AB6969D}" type="presParOf" srcId="{82D179F3-9F27-4AD3-994B-4D630B2A7D0E}" destId="{82AFED9C-0F4B-48EC-A88C-0B516EE43FC3}" srcOrd="4" destOrd="0" presId="urn:microsoft.com/office/officeart/2018/2/layout/IconVerticalSolidList"/>
    <dgm:cxn modelId="{981B9AB2-DD0E-456F-A7AA-955E34CB768B}" type="presParOf" srcId="{82AFED9C-0F4B-48EC-A88C-0B516EE43FC3}" destId="{A8E1718F-77A1-495C-808D-3B6F90B50A14}" srcOrd="0" destOrd="0" presId="urn:microsoft.com/office/officeart/2018/2/layout/IconVerticalSolidList"/>
    <dgm:cxn modelId="{478C14FF-07CD-4DF4-B7E8-2B589310E451}" type="presParOf" srcId="{82AFED9C-0F4B-48EC-A88C-0B516EE43FC3}" destId="{02A001B9-CC7E-4D30-8A42-42401FCF2E5E}" srcOrd="1" destOrd="0" presId="urn:microsoft.com/office/officeart/2018/2/layout/IconVerticalSolidList"/>
    <dgm:cxn modelId="{20997564-5B19-433E-B53E-53D87C26286E}" type="presParOf" srcId="{82AFED9C-0F4B-48EC-A88C-0B516EE43FC3}" destId="{49E95D16-8525-42FA-A7E0-4780846B2111}" srcOrd="2" destOrd="0" presId="urn:microsoft.com/office/officeart/2018/2/layout/IconVerticalSolidList"/>
    <dgm:cxn modelId="{553B8F40-6D72-4272-BD3B-B57E107B093C}" type="presParOf" srcId="{82AFED9C-0F4B-48EC-A88C-0B516EE43FC3}" destId="{7CBA4BF1-5BE7-4D48-AB8C-831BE404813F}" srcOrd="3" destOrd="0" presId="urn:microsoft.com/office/officeart/2018/2/layout/IconVerticalSolidList"/>
    <dgm:cxn modelId="{3628B63E-AF75-4613-868D-04F7E5E98046}" type="presParOf" srcId="{82D179F3-9F27-4AD3-994B-4D630B2A7D0E}" destId="{C1D0750B-AB2F-4306-9002-C5ABE8C0A2BA}" srcOrd="5" destOrd="0" presId="urn:microsoft.com/office/officeart/2018/2/layout/IconVerticalSolidList"/>
    <dgm:cxn modelId="{6B2E2F7A-CD83-4EB2-A255-B865513C11EC}" type="presParOf" srcId="{82D179F3-9F27-4AD3-994B-4D630B2A7D0E}" destId="{F48709A7-D70C-45AD-B627-0FF146A87B1F}" srcOrd="6" destOrd="0" presId="urn:microsoft.com/office/officeart/2018/2/layout/IconVerticalSolidList"/>
    <dgm:cxn modelId="{F2488704-45A2-4E3C-9BC2-7EE134C99DD8}" type="presParOf" srcId="{F48709A7-D70C-45AD-B627-0FF146A87B1F}" destId="{9BEE6CFB-24F9-41CE-B772-C8332367E6E1}" srcOrd="0" destOrd="0" presId="urn:microsoft.com/office/officeart/2018/2/layout/IconVerticalSolidList"/>
    <dgm:cxn modelId="{B97998B7-1EDE-4EC3-A975-2D0BAE9253AB}" type="presParOf" srcId="{F48709A7-D70C-45AD-B627-0FF146A87B1F}" destId="{ADEF7A08-80D8-4596-BA50-B479596CE6FE}" srcOrd="1" destOrd="0" presId="urn:microsoft.com/office/officeart/2018/2/layout/IconVerticalSolidList"/>
    <dgm:cxn modelId="{AA54E524-6051-46BD-9AFB-CA6AA331FC87}" type="presParOf" srcId="{F48709A7-D70C-45AD-B627-0FF146A87B1F}" destId="{AFB8E5AC-0151-460F-A1FD-AF916BAB7DEB}" srcOrd="2" destOrd="0" presId="urn:microsoft.com/office/officeart/2018/2/layout/IconVerticalSolidList"/>
    <dgm:cxn modelId="{317BF289-E911-4A07-A320-4D2B0F781492}" type="presParOf" srcId="{F48709A7-D70C-45AD-B627-0FF146A87B1F}" destId="{C6E1F057-43E6-4AAD-B399-BE1431F6946F}" srcOrd="3" destOrd="0" presId="urn:microsoft.com/office/officeart/2018/2/layout/IconVerticalSolidList"/>
    <dgm:cxn modelId="{EED89624-FEE3-4089-8327-412C54879D3E}" type="presParOf" srcId="{82D179F3-9F27-4AD3-994B-4D630B2A7D0E}" destId="{153FCBAD-35F9-4745-898D-E833C132E723}" srcOrd="7" destOrd="0" presId="urn:microsoft.com/office/officeart/2018/2/layout/IconVerticalSolidList"/>
    <dgm:cxn modelId="{5F6FB354-722A-4F8B-9F33-820DB6A2B50A}" type="presParOf" srcId="{82D179F3-9F27-4AD3-994B-4D630B2A7D0E}" destId="{F7F0CFAB-63AF-48C3-BAD1-5E487FB2FF3B}" srcOrd="8" destOrd="0" presId="urn:microsoft.com/office/officeart/2018/2/layout/IconVerticalSolidList"/>
    <dgm:cxn modelId="{A6FF484F-8495-4E22-A43B-BFF42B59A085}" type="presParOf" srcId="{F7F0CFAB-63AF-48C3-BAD1-5E487FB2FF3B}" destId="{49E30507-7FF7-4582-BA49-3BE38F2DFCD6}" srcOrd="0" destOrd="0" presId="urn:microsoft.com/office/officeart/2018/2/layout/IconVerticalSolidList"/>
    <dgm:cxn modelId="{ED90913D-A869-4581-B8E0-6302F3E7C0FB}" type="presParOf" srcId="{F7F0CFAB-63AF-48C3-BAD1-5E487FB2FF3B}" destId="{BC0709E7-CF9F-4F6D-AB5D-FF51711F3DB7}" srcOrd="1" destOrd="0" presId="urn:microsoft.com/office/officeart/2018/2/layout/IconVerticalSolidList"/>
    <dgm:cxn modelId="{7683A6CB-FB13-44E0-88EE-EBA2B84302BE}" type="presParOf" srcId="{F7F0CFAB-63AF-48C3-BAD1-5E487FB2FF3B}" destId="{818557AF-0518-424A-970F-F2B8D574CB21}" srcOrd="2" destOrd="0" presId="urn:microsoft.com/office/officeart/2018/2/layout/IconVerticalSolidList"/>
    <dgm:cxn modelId="{F29B16DB-AE56-4FAA-AFC9-A0A9B87E5196}" type="presParOf" srcId="{F7F0CFAB-63AF-48C3-BAD1-5E487FB2FF3B}" destId="{A2C2242C-368F-46CC-A1D0-7676852EB34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306FAA-6C0E-4935-AB43-12D28C3B1AAB}">
      <dsp:nvSpPr>
        <dsp:cNvPr id="0" name=""/>
        <dsp:cNvSpPr/>
      </dsp:nvSpPr>
      <dsp:spPr>
        <a:xfrm>
          <a:off x="597197" y="153010"/>
          <a:ext cx="1197196" cy="119719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7AB92A-4DF5-4962-933E-50B93E0A4166}">
      <dsp:nvSpPr>
        <dsp:cNvPr id="0" name=""/>
        <dsp:cNvSpPr/>
      </dsp:nvSpPr>
      <dsp:spPr>
        <a:xfrm>
          <a:off x="852337" y="408151"/>
          <a:ext cx="686915" cy="6869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BA2DD6-8D83-493F-9054-0A9644AF6839}">
      <dsp:nvSpPr>
        <dsp:cNvPr id="0" name=""/>
        <dsp:cNvSpPr/>
      </dsp:nvSpPr>
      <dsp:spPr>
        <a:xfrm>
          <a:off x="214487" y="1723104"/>
          <a:ext cx="196261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cap="all"/>
          </a:pPr>
          <a:r>
            <a:rPr lang="en-IN" sz="1900" kern="1200" dirty="0">
              <a:latin typeface="Amasis MT Pro Medium" panose="02040604050005020304" pitchFamily="18" charset="0"/>
            </a:rPr>
            <a:t>Introduction &amp; Objective</a:t>
          </a:r>
          <a:endParaRPr lang="en-US" sz="1900" kern="1200" dirty="0">
            <a:latin typeface="Amasis MT Pro Medium" panose="02040604050005020304" pitchFamily="18" charset="0"/>
          </a:endParaRPr>
        </a:p>
      </dsp:txBody>
      <dsp:txXfrm>
        <a:off x="214487" y="1723104"/>
        <a:ext cx="1962616" cy="720000"/>
      </dsp:txXfrm>
    </dsp:sp>
    <dsp:sp modelId="{8B7B898D-4F51-4B41-B439-94C166BD9C6C}">
      <dsp:nvSpPr>
        <dsp:cNvPr id="0" name=""/>
        <dsp:cNvSpPr/>
      </dsp:nvSpPr>
      <dsp:spPr>
        <a:xfrm>
          <a:off x="2903272" y="153010"/>
          <a:ext cx="1197196" cy="119719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472F9E-6950-4F55-A26E-2D8CEA53AFC8}">
      <dsp:nvSpPr>
        <dsp:cNvPr id="0" name=""/>
        <dsp:cNvSpPr/>
      </dsp:nvSpPr>
      <dsp:spPr>
        <a:xfrm>
          <a:off x="3158412" y="408151"/>
          <a:ext cx="686915" cy="6869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74C79D-76D2-4369-90D1-52E36556FA66}">
      <dsp:nvSpPr>
        <dsp:cNvPr id="0" name=""/>
        <dsp:cNvSpPr/>
      </dsp:nvSpPr>
      <dsp:spPr>
        <a:xfrm>
          <a:off x="2520562" y="1723104"/>
          <a:ext cx="196261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IN" sz="1500" kern="1200" dirty="0">
              <a:latin typeface="Amasis MT Pro Medium" panose="02040604050005020304" pitchFamily="18" charset="0"/>
            </a:rPr>
            <a:t>Business Objective</a:t>
          </a:r>
          <a:endParaRPr lang="en-US" sz="1500" kern="1200" dirty="0">
            <a:latin typeface="Amasis MT Pro Medium" panose="02040604050005020304" pitchFamily="18" charset="0"/>
          </a:endParaRPr>
        </a:p>
      </dsp:txBody>
      <dsp:txXfrm>
        <a:off x="2520562" y="1723104"/>
        <a:ext cx="1962616" cy="720000"/>
      </dsp:txXfrm>
    </dsp:sp>
    <dsp:sp modelId="{D5E67B1E-EF75-48A2-A54B-770EBDCF9CB8}">
      <dsp:nvSpPr>
        <dsp:cNvPr id="0" name=""/>
        <dsp:cNvSpPr/>
      </dsp:nvSpPr>
      <dsp:spPr>
        <a:xfrm>
          <a:off x="5209347" y="153010"/>
          <a:ext cx="1197196" cy="119719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8D2344-C672-4E46-9858-7D31B2CDF56F}">
      <dsp:nvSpPr>
        <dsp:cNvPr id="0" name=""/>
        <dsp:cNvSpPr/>
      </dsp:nvSpPr>
      <dsp:spPr>
        <a:xfrm>
          <a:off x="5464487" y="408151"/>
          <a:ext cx="686915" cy="6869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FADC6C-1B5C-472F-9930-515DCB293558}">
      <dsp:nvSpPr>
        <dsp:cNvPr id="0" name=""/>
        <dsp:cNvSpPr/>
      </dsp:nvSpPr>
      <dsp:spPr>
        <a:xfrm>
          <a:off x="4826636" y="1723104"/>
          <a:ext cx="196261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cap="all"/>
          </a:pPr>
          <a:r>
            <a:rPr lang="en-IN" sz="1900" kern="1200" dirty="0">
              <a:latin typeface="Amasis MT Pro Medium" panose="02040604050005020304" pitchFamily="18" charset="0"/>
            </a:rPr>
            <a:t>KPIs</a:t>
          </a:r>
          <a:endParaRPr lang="en-US" sz="1900" kern="1200" dirty="0">
            <a:latin typeface="Amasis MT Pro Medium" panose="02040604050005020304" pitchFamily="18" charset="0"/>
          </a:endParaRPr>
        </a:p>
      </dsp:txBody>
      <dsp:txXfrm>
        <a:off x="4826636" y="1723104"/>
        <a:ext cx="1962616" cy="720000"/>
      </dsp:txXfrm>
    </dsp:sp>
    <dsp:sp modelId="{640772AC-DF26-41A8-8780-4366CD6C54FA}">
      <dsp:nvSpPr>
        <dsp:cNvPr id="0" name=""/>
        <dsp:cNvSpPr/>
      </dsp:nvSpPr>
      <dsp:spPr>
        <a:xfrm>
          <a:off x="1750234" y="2933758"/>
          <a:ext cx="1197196" cy="119719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91A885-72D6-40EA-A71D-FEE06F427491}">
      <dsp:nvSpPr>
        <dsp:cNvPr id="0" name=""/>
        <dsp:cNvSpPr/>
      </dsp:nvSpPr>
      <dsp:spPr>
        <a:xfrm>
          <a:off x="2005375" y="3188898"/>
          <a:ext cx="686915" cy="6869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646A4D-0E91-4F3E-86D5-3A50EA5AE283}">
      <dsp:nvSpPr>
        <dsp:cNvPr id="0" name=""/>
        <dsp:cNvSpPr/>
      </dsp:nvSpPr>
      <dsp:spPr>
        <a:xfrm>
          <a:off x="1367524" y="4503852"/>
          <a:ext cx="196261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cap="all"/>
          </a:pPr>
          <a:r>
            <a:rPr lang="en-IN" sz="1900" kern="1200" dirty="0">
              <a:latin typeface="Amasis MT Pro Medium" panose="02040604050005020304" pitchFamily="18" charset="0"/>
            </a:rPr>
            <a:t>Dashboard</a:t>
          </a:r>
          <a:endParaRPr lang="en-US" sz="1900" kern="1200" dirty="0">
            <a:latin typeface="Amasis MT Pro Medium" panose="02040604050005020304" pitchFamily="18" charset="0"/>
          </a:endParaRPr>
        </a:p>
      </dsp:txBody>
      <dsp:txXfrm>
        <a:off x="1367524" y="4503852"/>
        <a:ext cx="1962616" cy="720000"/>
      </dsp:txXfrm>
    </dsp:sp>
    <dsp:sp modelId="{D75E3BB3-9F68-4512-94AA-0953F514D933}">
      <dsp:nvSpPr>
        <dsp:cNvPr id="0" name=""/>
        <dsp:cNvSpPr/>
      </dsp:nvSpPr>
      <dsp:spPr>
        <a:xfrm>
          <a:off x="4056309" y="2933758"/>
          <a:ext cx="1197196" cy="119719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A87F04-F312-4E79-99F0-E2901F8B965B}">
      <dsp:nvSpPr>
        <dsp:cNvPr id="0" name=""/>
        <dsp:cNvSpPr/>
      </dsp:nvSpPr>
      <dsp:spPr>
        <a:xfrm>
          <a:off x="4311449" y="3188898"/>
          <a:ext cx="686915" cy="6869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1A6CA3-986B-4564-899C-19BD37D429A2}">
      <dsp:nvSpPr>
        <dsp:cNvPr id="0" name=""/>
        <dsp:cNvSpPr/>
      </dsp:nvSpPr>
      <dsp:spPr>
        <a:xfrm>
          <a:off x="3673599" y="4503852"/>
          <a:ext cx="196261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cap="all"/>
          </a:pPr>
          <a:r>
            <a:rPr lang="en-IN" sz="1900" kern="1200" dirty="0">
              <a:latin typeface="Amasis MT Pro Medium" panose="02040604050005020304" pitchFamily="18" charset="0"/>
            </a:rPr>
            <a:t>Conclusion</a:t>
          </a:r>
          <a:endParaRPr lang="en-US" sz="1900" kern="1200" dirty="0">
            <a:latin typeface="Amasis MT Pro Medium" panose="02040604050005020304" pitchFamily="18" charset="0"/>
          </a:endParaRPr>
        </a:p>
      </dsp:txBody>
      <dsp:txXfrm>
        <a:off x="3673599" y="4503852"/>
        <a:ext cx="1962616"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42527A-CCB6-4829-88E3-7552B266EFAB}">
      <dsp:nvSpPr>
        <dsp:cNvPr id="0" name=""/>
        <dsp:cNvSpPr/>
      </dsp:nvSpPr>
      <dsp:spPr>
        <a:xfrm>
          <a:off x="0" y="5633"/>
          <a:ext cx="10898485" cy="67489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6E9D13-3C76-45C3-8931-E3693C602C60}">
      <dsp:nvSpPr>
        <dsp:cNvPr id="0" name=""/>
        <dsp:cNvSpPr/>
      </dsp:nvSpPr>
      <dsp:spPr>
        <a:xfrm>
          <a:off x="204154" y="157484"/>
          <a:ext cx="371553" cy="3711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64BECF-0D1A-410A-8F1A-CCDAE9A6B1CE}">
      <dsp:nvSpPr>
        <dsp:cNvPr id="0" name=""/>
        <dsp:cNvSpPr/>
      </dsp:nvSpPr>
      <dsp:spPr>
        <a:xfrm>
          <a:off x="779863" y="5633"/>
          <a:ext cx="10083389" cy="738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122" tIns="78122" rIns="78122" bIns="78122" numCol="1" spcCol="1270" anchor="ctr" anchorCtr="0">
          <a:noAutofit/>
        </a:bodyPr>
        <a:lstStyle/>
        <a:p>
          <a:pPr marL="0" lvl="0" indent="0" algn="ctr" defTabSz="889000">
            <a:lnSpc>
              <a:spcPct val="100000"/>
            </a:lnSpc>
            <a:spcBef>
              <a:spcPct val="0"/>
            </a:spcBef>
            <a:spcAft>
              <a:spcPct val="35000"/>
            </a:spcAft>
            <a:buNone/>
          </a:pPr>
          <a:r>
            <a:rPr lang="en-US" sz="2000" b="0" i="0" kern="1200" dirty="0"/>
            <a:t>Conduct stay interviews: Instead of exit interviews, conduct stay interviews with employees to gather feedback about the job.</a:t>
          </a:r>
          <a:endParaRPr lang="en-US" sz="2000" kern="1200" dirty="0"/>
        </a:p>
      </dsp:txBody>
      <dsp:txXfrm>
        <a:off x="779863" y="5633"/>
        <a:ext cx="10083389" cy="738163"/>
      </dsp:txXfrm>
    </dsp:sp>
    <dsp:sp modelId="{BFC3A43C-BCDB-4217-8A75-CCC1183668B5}">
      <dsp:nvSpPr>
        <dsp:cNvPr id="0" name=""/>
        <dsp:cNvSpPr/>
      </dsp:nvSpPr>
      <dsp:spPr>
        <a:xfrm>
          <a:off x="0" y="928338"/>
          <a:ext cx="10898485" cy="67489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8F2191-0ABC-400B-9F39-F02DFE1A6756}">
      <dsp:nvSpPr>
        <dsp:cNvPr id="0" name=""/>
        <dsp:cNvSpPr/>
      </dsp:nvSpPr>
      <dsp:spPr>
        <a:xfrm>
          <a:off x="204154" y="1080188"/>
          <a:ext cx="371553" cy="37119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AF71C2-E556-429D-B688-B88B92F8AFD3}">
      <dsp:nvSpPr>
        <dsp:cNvPr id="0" name=""/>
        <dsp:cNvSpPr/>
      </dsp:nvSpPr>
      <dsp:spPr>
        <a:xfrm>
          <a:off x="779863" y="928338"/>
          <a:ext cx="10083389" cy="738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122" tIns="78122" rIns="78122" bIns="78122" numCol="1" spcCol="1270" anchor="ctr" anchorCtr="0">
          <a:noAutofit/>
        </a:bodyPr>
        <a:lstStyle/>
        <a:p>
          <a:pPr marL="0" lvl="0" indent="0" algn="ctr" defTabSz="889000">
            <a:lnSpc>
              <a:spcPct val="100000"/>
            </a:lnSpc>
            <a:spcBef>
              <a:spcPct val="0"/>
            </a:spcBef>
            <a:spcAft>
              <a:spcPct val="35000"/>
            </a:spcAft>
            <a:buNone/>
          </a:pPr>
          <a:r>
            <a:rPr lang="en-US" sz="2000" b="0" i="0" kern="1200" dirty="0"/>
            <a:t>Improve employee engagement: Implement initiatives to improve employee engagement, such as regular feedback, recognition and rewards programs, and opportunities for career growth</a:t>
          </a:r>
          <a:r>
            <a:rPr lang="en-US" sz="2000" kern="1200" dirty="0"/>
            <a:t>.</a:t>
          </a:r>
        </a:p>
      </dsp:txBody>
      <dsp:txXfrm>
        <a:off x="779863" y="928338"/>
        <a:ext cx="10083389" cy="738163"/>
      </dsp:txXfrm>
    </dsp:sp>
    <dsp:sp modelId="{A8E1718F-77A1-495C-808D-3B6F90B50A14}">
      <dsp:nvSpPr>
        <dsp:cNvPr id="0" name=""/>
        <dsp:cNvSpPr/>
      </dsp:nvSpPr>
      <dsp:spPr>
        <a:xfrm>
          <a:off x="0" y="1851042"/>
          <a:ext cx="10898485" cy="67489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A001B9-CC7E-4D30-8A42-42401FCF2E5E}">
      <dsp:nvSpPr>
        <dsp:cNvPr id="0" name=""/>
        <dsp:cNvSpPr/>
      </dsp:nvSpPr>
      <dsp:spPr>
        <a:xfrm>
          <a:off x="204154" y="2002893"/>
          <a:ext cx="371553" cy="37119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BA4BF1-5BE7-4D48-AB8C-831BE404813F}">
      <dsp:nvSpPr>
        <dsp:cNvPr id="0" name=""/>
        <dsp:cNvSpPr/>
      </dsp:nvSpPr>
      <dsp:spPr>
        <a:xfrm>
          <a:off x="779863" y="1851042"/>
          <a:ext cx="10083389" cy="738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122" tIns="78122" rIns="78122" bIns="78122" numCol="1" spcCol="1270" anchor="ctr" anchorCtr="0">
          <a:noAutofit/>
        </a:bodyPr>
        <a:lstStyle/>
        <a:p>
          <a:pPr marL="0" lvl="0" indent="0" algn="ctr" defTabSz="889000">
            <a:lnSpc>
              <a:spcPct val="100000"/>
            </a:lnSpc>
            <a:spcBef>
              <a:spcPct val="0"/>
            </a:spcBef>
            <a:spcAft>
              <a:spcPct val="35000"/>
            </a:spcAft>
            <a:buNone/>
          </a:pPr>
          <a:r>
            <a:rPr lang="en-US" sz="2000" b="0" i="0" kern="1200" dirty="0"/>
            <a:t>Address workload issues: Ensure employees have manageable workloads by regularly monitoring and adjusting workloads to prevent burnout and overwhelm.</a:t>
          </a:r>
          <a:endParaRPr lang="en-US" sz="2000" kern="1200" dirty="0"/>
        </a:p>
      </dsp:txBody>
      <dsp:txXfrm>
        <a:off x="779863" y="1851042"/>
        <a:ext cx="10083389" cy="738163"/>
      </dsp:txXfrm>
    </dsp:sp>
    <dsp:sp modelId="{9BEE6CFB-24F9-41CE-B772-C8332367E6E1}">
      <dsp:nvSpPr>
        <dsp:cNvPr id="0" name=""/>
        <dsp:cNvSpPr/>
      </dsp:nvSpPr>
      <dsp:spPr>
        <a:xfrm>
          <a:off x="0" y="2773747"/>
          <a:ext cx="10898485" cy="67489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EF7A08-80D8-4596-BA50-B479596CE6FE}">
      <dsp:nvSpPr>
        <dsp:cNvPr id="0" name=""/>
        <dsp:cNvSpPr/>
      </dsp:nvSpPr>
      <dsp:spPr>
        <a:xfrm>
          <a:off x="204154" y="2925598"/>
          <a:ext cx="371553" cy="37119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E1F057-43E6-4AAD-B399-BE1431F6946F}">
      <dsp:nvSpPr>
        <dsp:cNvPr id="0" name=""/>
        <dsp:cNvSpPr/>
      </dsp:nvSpPr>
      <dsp:spPr>
        <a:xfrm>
          <a:off x="779863" y="2773747"/>
          <a:ext cx="10083389" cy="738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122" tIns="78122" rIns="78122" bIns="78122" numCol="1" spcCol="1270" anchor="ctr" anchorCtr="0">
          <a:noAutofit/>
        </a:bodyPr>
        <a:lstStyle/>
        <a:p>
          <a:pPr marL="0" lvl="0" indent="0" algn="ctr" defTabSz="800100">
            <a:lnSpc>
              <a:spcPct val="100000"/>
            </a:lnSpc>
            <a:spcBef>
              <a:spcPct val="0"/>
            </a:spcBef>
            <a:spcAft>
              <a:spcPct val="35000"/>
            </a:spcAft>
            <a:buNone/>
          </a:pPr>
          <a:r>
            <a:rPr lang="en-US" sz="1800" b="0" i="0" kern="1200" dirty="0"/>
            <a:t>Create a positive work environment: Foster a positive work environment by promoting a culture of respect, inclusivity, and teamwork. Encourage open communication and collaboration among employees.</a:t>
          </a:r>
          <a:endParaRPr lang="en-US" sz="1800" kern="1200" dirty="0"/>
        </a:p>
      </dsp:txBody>
      <dsp:txXfrm>
        <a:off x="779863" y="2773747"/>
        <a:ext cx="10083389" cy="738163"/>
      </dsp:txXfrm>
    </dsp:sp>
    <dsp:sp modelId="{49E30507-7FF7-4582-BA49-3BE38F2DFCD6}">
      <dsp:nvSpPr>
        <dsp:cNvPr id="0" name=""/>
        <dsp:cNvSpPr/>
      </dsp:nvSpPr>
      <dsp:spPr>
        <a:xfrm>
          <a:off x="0" y="3696451"/>
          <a:ext cx="10898485" cy="67489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0709E7-CF9F-4F6D-AB5D-FF51711F3DB7}">
      <dsp:nvSpPr>
        <dsp:cNvPr id="0" name=""/>
        <dsp:cNvSpPr/>
      </dsp:nvSpPr>
      <dsp:spPr>
        <a:xfrm>
          <a:off x="204154" y="3848302"/>
          <a:ext cx="371553" cy="37119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C2242C-368F-46CC-A1D0-7676852EB348}">
      <dsp:nvSpPr>
        <dsp:cNvPr id="0" name=""/>
        <dsp:cNvSpPr/>
      </dsp:nvSpPr>
      <dsp:spPr>
        <a:xfrm>
          <a:off x="779863" y="3696451"/>
          <a:ext cx="10083389" cy="738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122" tIns="78122" rIns="78122" bIns="78122" numCol="1" spcCol="1270" anchor="ctr" anchorCtr="0">
          <a:noAutofit/>
        </a:bodyPr>
        <a:lstStyle/>
        <a:p>
          <a:pPr marL="0" lvl="0" indent="0" algn="ctr" defTabSz="800100">
            <a:lnSpc>
              <a:spcPct val="100000"/>
            </a:lnSpc>
            <a:spcBef>
              <a:spcPct val="0"/>
            </a:spcBef>
            <a:spcAft>
              <a:spcPct val="35000"/>
            </a:spcAft>
            <a:buNone/>
          </a:pPr>
          <a:r>
            <a:rPr lang="en-US" sz="1800" b="0" i="0" kern="1200" dirty="0"/>
            <a:t>Address pay and compensation issues: Ensure that employees receive fair pay and compensation for their work and t</a:t>
          </a:r>
          <a:r>
            <a:rPr lang="en-US" sz="1800" kern="1200" dirty="0"/>
            <a:t>o find out what motivates an employee to continue to work in an organization.</a:t>
          </a:r>
        </a:p>
      </dsp:txBody>
      <dsp:txXfrm>
        <a:off x="779863" y="3696451"/>
        <a:ext cx="10083389" cy="738163"/>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CC288D0-A4BF-40B4-9D48-390073E6FAF5}" type="datetimeFigureOut">
              <a:rPr lang="en-US" smtClean="0"/>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3D75CC-17A3-4613-A591-05C964DC20A7}" type="slidenum">
              <a:rPr lang="en-US" smtClean="0"/>
              <a:t>‹#›</a:t>
            </a:fld>
            <a:endParaRPr lang="en-US"/>
          </a:p>
        </p:txBody>
      </p:sp>
    </p:spTree>
    <p:extLst>
      <p:ext uri="{BB962C8B-B14F-4D97-AF65-F5344CB8AC3E}">
        <p14:creationId xmlns:p14="http://schemas.microsoft.com/office/powerpoint/2010/main" val="409646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C288D0-A4BF-40B4-9D48-390073E6FAF5}" type="datetimeFigureOut">
              <a:rPr lang="en-US" smtClean="0"/>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3D75CC-17A3-4613-A591-05C964DC20A7}" type="slidenum">
              <a:rPr lang="en-US" smtClean="0"/>
              <a:t>‹#›</a:t>
            </a:fld>
            <a:endParaRPr lang="en-US"/>
          </a:p>
        </p:txBody>
      </p:sp>
    </p:spTree>
    <p:extLst>
      <p:ext uri="{BB962C8B-B14F-4D97-AF65-F5344CB8AC3E}">
        <p14:creationId xmlns:p14="http://schemas.microsoft.com/office/powerpoint/2010/main" val="646415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C288D0-A4BF-40B4-9D48-390073E6FAF5}" type="datetimeFigureOut">
              <a:rPr lang="en-US" smtClean="0"/>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3D75CC-17A3-4613-A591-05C964DC20A7}" type="slidenum">
              <a:rPr lang="en-US" smtClean="0"/>
              <a:t>‹#›</a:t>
            </a:fld>
            <a:endParaRPr lang="en-US"/>
          </a:p>
        </p:txBody>
      </p:sp>
    </p:spTree>
    <p:extLst>
      <p:ext uri="{BB962C8B-B14F-4D97-AF65-F5344CB8AC3E}">
        <p14:creationId xmlns:p14="http://schemas.microsoft.com/office/powerpoint/2010/main" val="2973694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C288D0-A4BF-40B4-9D48-390073E6FAF5}" type="datetimeFigureOut">
              <a:rPr lang="en-US" smtClean="0"/>
              <a:t>8/11/2024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3D75CC-17A3-4613-A591-05C964DC20A7}" type="slidenum">
              <a:rPr lang="en-US" smtClean="0"/>
              <a:t>‹#›</a:t>
            </a:fld>
            <a:endParaRPr lang="en-US"/>
          </a:p>
        </p:txBody>
      </p:sp>
    </p:spTree>
    <p:extLst>
      <p:ext uri="{BB962C8B-B14F-4D97-AF65-F5344CB8AC3E}">
        <p14:creationId xmlns:p14="http://schemas.microsoft.com/office/powerpoint/2010/main" val="2424422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C288D0-A4BF-40B4-9D48-390073E6FAF5}" type="datetimeFigureOut">
              <a:rPr lang="en-US" smtClean="0"/>
              <a:t>8/11/2024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3D75CC-17A3-4613-A591-05C964DC20A7}" type="slidenum">
              <a:rPr lang="en-US" smtClean="0"/>
              <a:t>‹#›</a:t>
            </a:fld>
            <a:endParaRPr lang="en-US"/>
          </a:p>
        </p:txBody>
      </p:sp>
    </p:spTree>
    <p:extLst>
      <p:ext uri="{BB962C8B-B14F-4D97-AF65-F5344CB8AC3E}">
        <p14:creationId xmlns:p14="http://schemas.microsoft.com/office/powerpoint/2010/main" val="3742135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C288D0-A4BF-40B4-9D48-390073E6FAF5}" type="datetimeFigureOut">
              <a:rPr lang="en-US" smtClean="0"/>
              <a:t>8/11/2024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3D75CC-17A3-4613-A591-05C964DC20A7}" type="slidenum">
              <a:rPr lang="en-US" smtClean="0"/>
              <a:t>‹#›</a:t>
            </a:fld>
            <a:endParaRPr lang="en-US"/>
          </a:p>
        </p:txBody>
      </p:sp>
    </p:spTree>
    <p:extLst>
      <p:ext uri="{BB962C8B-B14F-4D97-AF65-F5344CB8AC3E}">
        <p14:creationId xmlns:p14="http://schemas.microsoft.com/office/powerpoint/2010/main" val="2511243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C288D0-A4BF-40B4-9D48-390073E6FAF5}" type="datetimeFigureOut">
              <a:rPr lang="en-US" smtClean="0"/>
              <a:t>8/11/2024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3D75CC-17A3-4613-A591-05C964DC20A7}" type="slidenum">
              <a:rPr lang="en-US" smtClean="0"/>
              <a:t>‹#›</a:t>
            </a:fld>
            <a:endParaRPr lang="en-US"/>
          </a:p>
        </p:txBody>
      </p:sp>
    </p:spTree>
    <p:extLst>
      <p:ext uri="{BB962C8B-B14F-4D97-AF65-F5344CB8AC3E}">
        <p14:creationId xmlns:p14="http://schemas.microsoft.com/office/powerpoint/2010/main" val="3397477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CC288D0-A4BF-40B4-9D48-390073E6FAF5}" type="datetimeFigureOut">
              <a:rPr lang="en-US" smtClean="0"/>
              <a:t>8/11/2024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3D75CC-17A3-4613-A591-05C964DC20A7}" type="slidenum">
              <a:rPr lang="en-US" smtClean="0"/>
              <a:t>‹#›</a:t>
            </a:fld>
            <a:endParaRPr lang="en-US"/>
          </a:p>
        </p:txBody>
      </p:sp>
    </p:spTree>
    <p:extLst>
      <p:ext uri="{BB962C8B-B14F-4D97-AF65-F5344CB8AC3E}">
        <p14:creationId xmlns:p14="http://schemas.microsoft.com/office/powerpoint/2010/main" val="2540615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CC288D0-A4BF-40B4-9D48-390073E6FAF5}" type="datetimeFigureOut">
              <a:rPr lang="en-US" smtClean="0"/>
              <a:t>8/11/2024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3D75CC-17A3-4613-A591-05C964DC20A7}" type="slidenum">
              <a:rPr lang="en-US" smtClean="0"/>
              <a:t>‹#›</a:t>
            </a:fld>
            <a:endParaRPr lang="en-US"/>
          </a:p>
        </p:txBody>
      </p:sp>
    </p:spTree>
    <p:extLst>
      <p:ext uri="{BB962C8B-B14F-4D97-AF65-F5344CB8AC3E}">
        <p14:creationId xmlns:p14="http://schemas.microsoft.com/office/powerpoint/2010/main" val="1614327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C288D0-A4BF-40B4-9D48-390073E6FAF5}" type="datetimeFigureOut">
              <a:rPr lang="en-US" smtClean="0"/>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3D75CC-17A3-4613-A591-05C964DC20A7}" type="slidenum">
              <a:rPr lang="en-US" smtClean="0"/>
              <a:t>‹#›</a:t>
            </a:fld>
            <a:endParaRPr lang="en-US"/>
          </a:p>
        </p:txBody>
      </p:sp>
    </p:spTree>
    <p:extLst>
      <p:ext uri="{BB962C8B-B14F-4D97-AF65-F5344CB8AC3E}">
        <p14:creationId xmlns:p14="http://schemas.microsoft.com/office/powerpoint/2010/main" val="425628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C288D0-A4BF-40B4-9D48-390073E6FAF5}" type="datetimeFigureOut">
              <a:rPr lang="en-US" smtClean="0"/>
              <a:t>8/11/2024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3D75CC-17A3-4613-A591-05C964DC20A7}" type="slidenum">
              <a:rPr lang="en-US" smtClean="0"/>
              <a:t>‹#›</a:t>
            </a:fld>
            <a:endParaRPr lang="en-US"/>
          </a:p>
        </p:txBody>
      </p:sp>
    </p:spTree>
    <p:extLst>
      <p:ext uri="{BB962C8B-B14F-4D97-AF65-F5344CB8AC3E}">
        <p14:creationId xmlns:p14="http://schemas.microsoft.com/office/powerpoint/2010/main" val="18196157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lid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D9DD6903-31DD-5348-931E-827644FF87FE}"/>
              </a:ext>
            </a:extLst>
          </p:cNvPr>
          <p:cNvSpPr>
            <a:spLocks noGrp="1"/>
          </p:cNvSpPr>
          <p:nvPr>
            <p:ph type="pic" sz="quarter" idx="14"/>
          </p:nvPr>
        </p:nvSpPr>
        <p:spPr>
          <a:xfrm>
            <a:off x="-2" y="-1"/>
            <a:ext cx="12191999" cy="3836895"/>
          </a:xfrm>
          <a:prstGeom prst="rect">
            <a:avLst/>
          </a:prstGeom>
          <a:solidFill>
            <a:schemeClr val="bg1">
              <a:lumMod val="95000"/>
            </a:schemeClr>
          </a:solidFill>
        </p:spPr>
        <p:txBody>
          <a:bodyPr>
            <a:normAutofit/>
          </a:bodyPr>
          <a:lstStyle>
            <a:lvl1pPr>
              <a:defRPr sz="1051"/>
            </a:lvl1pPr>
          </a:lstStyle>
          <a:p>
            <a:endParaRPr lang="en-US"/>
          </a:p>
        </p:txBody>
      </p:sp>
    </p:spTree>
    <p:extLst>
      <p:ext uri="{BB962C8B-B14F-4D97-AF65-F5344CB8AC3E}">
        <p14:creationId xmlns:p14="http://schemas.microsoft.com/office/powerpoint/2010/main" val="1011580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E567-0C67-9893-CC4F-870F2DFB9E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9A94AAA-7B33-4E53-2875-581D9ED1EF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9CDB23-D77C-51D8-B8AD-9D366A50F124}"/>
              </a:ext>
            </a:extLst>
          </p:cNvPr>
          <p:cNvSpPr>
            <a:spLocks noGrp="1"/>
          </p:cNvSpPr>
          <p:nvPr>
            <p:ph type="dt" sz="half" idx="10"/>
          </p:nvPr>
        </p:nvSpPr>
        <p:spPr/>
        <p:txBody>
          <a:bodyPr/>
          <a:lstStyle/>
          <a:p>
            <a:fld id="{9D0D92BC-42A9-434B-8530-ADBF4485E407}" type="datetimeFigureOut">
              <a:rPr lang="en-US" smtClean="0"/>
              <a:t>8/11/2024</a:t>
            </a:fld>
            <a:endParaRPr lang="en-US"/>
          </a:p>
        </p:txBody>
      </p:sp>
      <p:sp>
        <p:nvSpPr>
          <p:cNvPr id="5" name="Footer Placeholder 4">
            <a:extLst>
              <a:ext uri="{FF2B5EF4-FFF2-40B4-BE49-F238E27FC236}">
                <a16:creationId xmlns:a16="http://schemas.microsoft.com/office/drawing/2014/main" id="{20760991-6599-C938-2617-3D1175F32B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61BD7A-F606-A8A0-6E69-A776AEF05B6D}"/>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237572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53A33-8760-6F1F-7F0E-308BE159E7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7FEF9B4-E2D0-9077-AF98-92865221AC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691169-A09D-E239-D10A-C2DC49DFA647}"/>
              </a:ext>
            </a:extLst>
          </p:cNvPr>
          <p:cNvSpPr>
            <a:spLocks noGrp="1"/>
          </p:cNvSpPr>
          <p:nvPr>
            <p:ph type="dt" sz="half" idx="10"/>
          </p:nvPr>
        </p:nvSpPr>
        <p:spPr/>
        <p:txBody>
          <a:bodyPr/>
          <a:lstStyle/>
          <a:p>
            <a:fld id="{9D0D92BC-42A9-434B-8530-ADBF4485E407}" type="datetimeFigureOut">
              <a:rPr lang="en-US" smtClean="0"/>
              <a:t>8/11/2024</a:t>
            </a:fld>
            <a:endParaRPr lang="en-US"/>
          </a:p>
        </p:txBody>
      </p:sp>
      <p:sp>
        <p:nvSpPr>
          <p:cNvPr id="5" name="Footer Placeholder 4">
            <a:extLst>
              <a:ext uri="{FF2B5EF4-FFF2-40B4-BE49-F238E27FC236}">
                <a16:creationId xmlns:a16="http://schemas.microsoft.com/office/drawing/2014/main" id="{FEDC1EA2-F23C-8DE5-A207-6C3F3988C8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CF33C4-9423-4613-4982-BED89D3649C5}"/>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4409017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3143D-7512-DBCD-C7DE-184D774D5E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1EB401E-5120-A371-BD1C-593A79F078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4FDAB4-756C-15FB-6D8C-309271C1B93E}"/>
              </a:ext>
            </a:extLst>
          </p:cNvPr>
          <p:cNvSpPr>
            <a:spLocks noGrp="1"/>
          </p:cNvSpPr>
          <p:nvPr>
            <p:ph type="dt" sz="half" idx="10"/>
          </p:nvPr>
        </p:nvSpPr>
        <p:spPr/>
        <p:txBody>
          <a:bodyPr/>
          <a:lstStyle/>
          <a:p>
            <a:fld id="{9D0D92BC-42A9-434B-8530-ADBF4485E407}" type="datetimeFigureOut">
              <a:rPr lang="en-US" smtClean="0"/>
              <a:t>8/11/2024</a:t>
            </a:fld>
            <a:endParaRPr lang="en-US"/>
          </a:p>
        </p:txBody>
      </p:sp>
      <p:sp>
        <p:nvSpPr>
          <p:cNvPr id="5" name="Footer Placeholder 4">
            <a:extLst>
              <a:ext uri="{FF2B5EF4-FFF2-40B4-BE49-F238E27FC236}">
                <a16:creationId xmlns:a16="http://schemas.microsoft.com/office/drawing/2014/main" id="{A98CE6C8-9B71-412C-D081-02287B18B6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EDB636-6AB1-BB7E-11BF-3FAB79F4DF4A}"/>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84285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9C512-4AF5-B9BA-9911-9658604F42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9989AF5-E7F1-8786-DCC2-844427394A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C807D41-519F-52B3-A7F4-B191B1A235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3B1962F-182F-0B1A-116E-8A9260F8A789}"/>
              </a:ext>
            </a:extLst>
          </p:cNvPr>
          <p:cNvSpPr>
            <a:spLocks noGrp="1"/>
          </p:cNvSpPr>
          <p:nvPr>
            <p:ph type="dt" sz="half" idx="10"/>
          </p:nvPr>
        </p:nvSpPr>
        <p:spPr/>
        <p:txBody>
          <a:bodyPr/>
          <a:lstStyle/>
          <a:p>
            <a:fld id="{9D0D92BC-42A9-434B-8530-ADBF4485E407}" type="datetimeFigureOut">
              <a:rPr lang="en-US" smtClean="0"/>
              <a:t>8/11/2024</a:t>
            </a:fld>
            <a:endParaRPr lang="en-US"/>
          </a:p>
        </p:txBody>
      </p:sp>
      <p:sp>
        <p:nvSpPr>
          <p:cNvPr id="6" name="Footer Placeholder 5">
            <a:extLst>
              <a:ext uri="{FF2B5EF4-FFF2-40B4-BE49-F238E27FC236}">
                <a16:creationId xmlns:a16="http://schemas.microsoft.com/office/drawing/2014/main" id="{FA2E479F-CF69-FACD-A2EF-5955C9C0AD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A8FF94-4116-73E4-16CB-87801A33E809}"/>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5638702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9E019-E7E4-FCAC-849D-55E83A0C3F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ED1410-FA39-B5B8-4DA4-319378A19B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292667-B8F5-B387-85EC-AD98BCDDA8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D22B1EE-903F-239C-F614-4DB84C51C0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9546BB-7C7F-98C5-7B68-A7C797B269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5CB7D5-F352-053A-AED1-412F971484B3}"/>
              </a:ext>
            </a:extLst>
          </p:cNvPr>
          <p:cNvSpPr>
            <a:spLocks noGrp="1"/>
          </p:cNvSpPr>
          <p:nvPr>
            <p:ph type="dt" sz="half" idx="10"/>
          </p:nvPr>
        </p:nvSpPr>
        <p:spPr/>
        <p:txBody>
          <a:bodyPr/>
          <a:lstStyle/>
          <a:p>
            <a:fld id="{9D0D92BC-42A9-434B-8530-ADBF4485E407}" type="datetimeFigureOut">
              <a:rPr lang="en-US" smtClean="0"/>
              <a:t>8/11/2024</a:t>
            </a:fld>
            <a:endParaRPr lang="en-US"/>
          </a:p>
        </p:txBody>
      </p:sp>
      <p:sp>
        <p:nvSpPr>
          <p:cNvPr id="8" name="Footer Placeholder 7">
            <a:extLst>
              <a:ext uri="{FF2B5EF4-FFF2-40B4-BE49-F238E27FC236}">
                <a16:creationId xmlns:a16="http://schemas.microsoft.com/office/drawing/2014/main" id="{11BBB0C3-7FF7-5043-837B-455E56D6BE1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EAC8DE3-37C5-48A2-7B43-A8B333A99446}"/>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352608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F9C05-C256-8EBA-9994-F0B080BFAD3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2FCB27E-451C-4897-A46B-3B776DEAB800}"/>
              </a:ext>
            </a:extLst>
          </p:cNvPr>
          <p:cNvSpPr>
            <a:spLocks noGrp="1"/>
          </p:cNvSpPr>
          <p:nvPr>
            <p:ph type="dt" sz="half" idx="10"/>
          </p:nvPr>
        </p:nvSpPr>
        <p:spPr/>
        <p:txBody>
          <a:bodyPr/>
          <a:lstStyle/>
          <a:p>
            <a:fld id="{9D0D92BC-42A9-434B-8530-ADBF4485E407}" type="datetimeFigureOut">
              <a:rPr lang="en-US" smtClean="0"/>
              <a:t>8/11/2024</a:t>
            </a:fld>
            <a:endParaRPr lang="en-US"/>
          </a:p>
        </p:txBody>
      </p:sp>
      <p:sp>
        <p:nvSpPr>
          <p:cNvPr id="4" name="Footer Placeholder 3">
            <a:extLst>
              <a:ext uri="{FF2B5EF4-FFF2-40B4-BE49-F238E27FC236}">
                <a16:creationId xmlns:a16="http://schemas.microsoft.com/office/drawing/2014/main" id="{333CCFC8-5E77-80AC-5DCF-0CEA1C7B91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BFFF7C-2381-B99B-13D0-3A9AC2B8D5A5}"/>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6173860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E47965-9AE9-FC50-ED37-E4378FA3A39F}"/>
              </a:ext>
            </a:extLst>
          </p:cNvPr>
          <p:cNvSpPr>
            <a:spLocks noGrp="1"/>
          </p:cNvSpPr>
          <p:nvPr>
            <p:ph type="dt" sz="half" idx="10"/>
          </p:nvPr>
        </p:nvSpPr>
        <p:spPr/>
        <p:txBody>
          <a:bodyPr/>
          <a:lstStyle/>
          <a:p>
            <a:fld id="{9D0D92BC-42A9-434B-8530-ADBF4485E407}" type="datetimeFigureOut">
              <a:rPr lang="en-US" smtClean="0"/>
              <a:t>8/11/2024</a:t>
            </a:fld>
            <a:endParaRPr lang="en-US"/>
          </a:p>
        </p:txBody>
      </p:sp>
      <p:sp>
        <p:nvSpPr>
          <p:cNvPr id="3" name="Footer Placeholder 2">
            <a:extLst>
              <a:ext uri="{FF2B5EF4-FFF2-40B4-BE49-F238E27FC236}">
                <a16:creationId xmlns:a16="http://schemas.microsoft.com/office/drawing/2014/main" id="{FCE42702-FC97-920C-1804-9CAB1AC8C2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7A6C5CB-E718-2DB1-1830-0B13BFC8AA8C}"/>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1261759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FC54E-22F1-B84E-62F0-53C1BFCD9B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6FF53FE-76C3-C8A6-68CA-0A89700C62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1F3021E-780F-4F56-CFEA-BA52ACD859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FA3507-BF4A-9404-FA53-0C74339E074D}"/>
              </a:ext>
            </a:extLst>
          </p:cNvPr>
          <p:cNvSpPr>
            <a:spLocks noGrp="1"/>
          </p:cNvSpPr>
          <p:nvPr>
            <p:ph type="dt" sz="half" idx="10"/>
          </p:nvPr>
        </p:nvSpPr>
        <p:spPr/>
        <p:txBody>
          <a:bodyPr/>
          <a:lstStyle/>
          <a:p>
            <a:fld id="{9D0D92BC-42A9-434B-8530-ADBF4485E407}" type="datetimeFigureOut">
              <a:rPr lang="en-US" smtClean="0"/>
              <a:t>8/11/2024</a:t>
            </a:fld>
            <a:endParaRPr lang="en-US"/>
          </a:p>
        </p:txBody>
      </p:sp>
      <p:sp>
        <p:nvSpPr>
          <p:cNvPr id="6" name="Footer Placeholder 5">
            <a:extLst>
              <a:ext uri="{FF2B5EF4-FFF2-40B4-BE49-F238E27FC236}">
                <a16:creationId xmlns:a16="http://schemas.microsoft.com/office/drawing/2014/main" id="{06CF342B-B40B-A06E-9A14-07457CF040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7B77DD-A2C5-FBDF-8B4A-1F3819A2AE71}"/>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7293501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C4525-2B4C-6CEA-01AF-5890606560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C8C20F9-D371-9B52-9A8F-17B40376B6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E785134-4710-4FAE-6BEE-FCB62880C7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FBF085-E3DD-381D-2648-B49667CF0EAB}"/>
              </a:ext>
            </a:extLst>
          </p:cNvPr>
          <p:cNvSpPr>
            <a:spLocks noGrp="1"/>
          </p:cNvSpPr>
          <p:nvPr>
            <p:ph type="dt" sz="half" idx="10"/>
          </p:nvPr>
        </p:nvSpPr>
        <p:spPr/>
        <p:txBody>
          <a:bodyPr/>
          <a:lstStyle/>
          <a:p>
            <a:fld id="{9D0D92BC-42A9-434B-8530-ADBF4485E407}" type="datetimeFigureOut">
              <a:rPr lang="en-US" smtClean="0"/>
              <a:t>8/11/2024</a:t>
            </a:fld>
            <a:endParaRPr lang="en-US"/>
          </a:p>
        </p:txBody>
      </p:sp>
      <p:sp>
        <p:nvSpPr>
          <p:cNvPr id="6" name="Footer Placeholder 5">
            <a:extLst>
              <a:ext uri="{FF2B5EF4-FFF2-40B4-BE49-F238E27FC236}">
                <a16:creationId xmlns:a16="http://schemas.microsoft.com/office/drawing/2014/main" id="{887F998E-06ED-F0B4-42F6-550D3F729C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405F3E-6463-23A5-3682-AD03C32A9FA6}"/>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9704833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E53B-829D-794A-46BB-214C32953C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433542-0AEE-4E95-BF90-90667F7836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FD07FF-89FF-5B6B-8325-F1D668FE3030}"/>
              </a:ext>
            </a:extLst>
          </p:cNvPr>
          <p:cNvSpPr>
            <a:spLocks noGrp="1"/>
          </p:cNvSpPr>
          <p:nvPr>
            <p:ph type="dt" sz="half" idx="10"/>
          </p:nvPr>
        </p:nvSpPr>
        <p:spPr/>
        <p:txBody>
          <a:bodyPr/>
          <a:lstStyle/>
          <a:p>
            <a:fld id="{9D0D92BC-42A9-434B-8530-ADBF4485E407}" type="datetimeFigureOut">
              <a:rPr lang="en-US" smtClean="0"/>
              <a:t>8/11/2024</a:t>
            </a:fld>
            <a:endParaRPr lang="en-US"/>
          </a:p>
        </p:txBody>
      </p:sp>
      <p:sp>
        <p:nvSpPr>
          <p:cNvPr id="5" name="Footer Placeholder 4">
            <a:extLst>
              <a:ext uri="{FF2B5EF4-FFF2-40B4-BE49-F238E27FC236}">
                <a16:creationId xmlns:a16="http://schemas.microsoft.com/office/drawing/2014/main" id="{1E3946A7-385A-48AA-E6CD-B15C2EEB47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014C05-F093-D737-C4AC-9E24058AF669}"/>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6030774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169C43-9D02-E478-B9A1-1898F83613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4EC02A-99CF-D2A6-541B-A5FA9E85FD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01E128-F034-8CCB-A806-033D5DF31746}"/>
              </a:ext>
            </a:extLst>
          </p:cNvPr>
          <p:cNvSpPr>
            <a:spLocks noGrp="1"/>
          </p:cNvSpPr>
          <p:nvPr>
            <p:ph type="dt" sz="half" idx="10"/>
          </p:nvPr>
        </p:nvSpPr>
        <p:spPr/>
        <p:txBody>
          <a:bodyPr/>
          <a:lstStyle/>
          <a:p>
            <a:fld id="{9D0D92BC-42A9-434B-8530-ADBF4485E407}" type="datetimeFigureOut">
              <a:rPr lang="en-US" smtClean="0"/>
              <a:t>8/11/2024</a:t>
            </a:fld>
            <a:endParaRPr lang="en-US"/>
          </a:p>
        </p:txBody>
      </p:sp>
      <p:sp>
        <p:nvSpPr>
          <p:cNvPr id="5" name="Footer Placeholder 4">
            <a:extLst>
              <a:ext uri="{FF2B5EF4-FFF2-40B4-BE49-F238E27FC236}">
                <a16:creationId xmlns:a16="http://schemas.microsoft.com/office/drawing/2014/main" id="{5B2D5F3A-4C3E-DFA2-F00B-33FCC19ADA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9F628F-1C9A-532C-4199-C404560E197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2305879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DBBF10D-5553-4B02-8B9B-D954FC99CD8C}" type="datetimeFigureOut">
              <a:rPr lang="en-IN" smtClean="0"/>
              <a:t>11-08-2024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A2BF0B-7E59-4F51-994B-BD9C9EE87950}" type="slidenum">
              <a:rPr lang="en-IN" smtClean="0"/>
              <a:t>‹#›</a:t>
            </a:fld>
            <a:endParaRPr lang="en-IN"/>
          </a:p>
        </p:txBody>
      </p:sp>
    </p:spTree>
    <p:extLst>
      <p:ext uri="{BB962C8B-B14F-4D97-AF65-F5344CB8AC3E}">
        <p14:creationId xmlns:p14="http://schemas.microsoft.com/office/powerpoint/2010/main" val="11380627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BBF10D-5553-4B02-8B9B-D954FC99CD8C}" type="datetimeFigureOut">
              <a:rPr lang="en-IN" smtClean="0"/>
              <a:t>11-08-2024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A2BF0B-7E59-4F51-994B-BD9C9EE87950}" type="slidenum">
              <a:rPr lang="en-IN" smtClean="0"/>
              <a:t>‹#›</a:t>
            </a:fld>
            <a:endParaRPr lang="en-IN"/>
          </a:p>
        </p:txBody>
      </p:sp>
    </p:spTree>
    <p:extLst>
      <p:ext uri="{BB962C8B-B14F-4D97-AF65-F5344CB8AC3E}">
        <p14:creationId xmlns:p14="http://schemas.microsoft.com/office/powerpoint/2010/main" val="18447741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BBF10D-5553-4B02-8B9B-D954FC99CD8C}" type="datetimeFigureOut">
              <a:rPr lang="en-IN" smtClean="0"/>
              <a:t>11-08-2024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A2BF0B-7E59-4F51-994B-BD9C9EE87950}" type="slidenum">
              <a:rPr lang="en-IN" smtClean="0"/>
              <a:t>‹#›</a:t>
            </a:fld>
            <a:endParaRPr lang="en-IN"/>
          </a:p>
        </p:txBody>
      </p:sp>
    </p:spTree>
    <p:extLst>
      <p:ext uri="{BB962C8B-B14F-4D97-AF65-F5344CB8AC3E}">
        <p14:creationId xmlns:p14="http://schemas.microsoft.com/office/powerpoint/2010/main" val="16014481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BBF10D-5553-4B02-8B9B-D954FC99CD8C}" type="datetimeFigureOut">
              <a:rPr lang="en-IN" smtClean="0"/>
              <a:t>11-08-2024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A2BF0B-7E59-4F51-994B-BD9C9EE87950}" type="slidenum">
              <a:rPr lang="en-IN" smtClean="0"/>
              <a:t>‹#›</a:t>
            </a:fld>
            <a:endParaRPr lang="en-IN"/>
          </a:p>
        </p:txBody>
      </p:sp>
    </p:spTree>
    <p:extLst>
      <p:ext uri="{BB962C8B-B14F-4D97-AF65-F5344CB8AC3E}">
        <p14:creationId xmlns:p14="http://schemas.microsoft.com/office/powerpoint/2010/main" val="6799535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BBF10D-5553-4B02-8B9B-D954FC99CD8C}" type="datetimeFigureOut">
              <a:rPr lang="en-IN" smtClean="0"/>
              <a:t>11-08-2024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AA2BF0B-7E59-4F51-994B-BD9C9EE87950}" type="slidenum">
              <a:rPr lang="en-IN" smtClean="0"/>
              <a:t>‹#›</a:t>
            </a:fld>
            <a:endParaRPr lang="en-IN"/>
          </a:p>
        </p:txBody>
      </p:sp>
    </p:spTree>
    <p:extLst>
      <p:ext uri="{BB962C8B-B14F-4D97-AF65-F5344CB8AC3E}">
        <p14:creationId xmlns:p14="http://schemas.microsoft.com/office/powerpoint/2010/main" val="23657300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BBF10D-5553-4B02-8B9B-D954FC99CD8C}" type="datetimeFigureOut">
              <a:rPr lang="en-IN" smtClean="0"/>
              <a:t>11-08-2024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AA2BF0B-7E59-4F51-994B-BD9C9EE87950}" type="slidenum">
              <a:rPr lang="en-IN" smtClean="0"/>
              <a:t>‹#›</a:t>
            </a:fld>
            <a:endParaRPr lang="en-IN"/>
          </a:p>
        </p:txBody>
      </p:sp>
    </p:spTree>
    <p:extLst>
      <p:ext uri="{BB962C8B-B14F-4D97-AF65-F5344CB8AC3E}">
        <p14:creationId xmlns:p14="http://schemas.microsoft.com/office/powerpoint/2010/main" val="12749799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3DBBF10D-5553-4B02-8B9B-D954FC99CD8C}" type="datetimeFigureOut">
              <a:rPr lang="en-IN" smtClean="0"/>
              <a:t>11-08-2024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AA2BF0B-7E59-4F51-994B-BD9C9EE87950}" type="slidenum">
              <a:rPr lang="en-IN" smtClean="0"/>
              <a:t>‹#›</a:t>
            </a:fld>
            <a:endParaRPr lang="en-IN"/>
          </a:p>
        </p:txBody>
      </p:sp>
    </p:spTree>
    <p:extLst>
      <p:ext uri="{BB962C8B-B14F-4D97-AF65-F5344CB8AC3E}">
        <p14:creationId xmlns:p14="http://schemas.microsoft.com/office/powerpoint/2010/main" val="31396921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BBF10D-5553-4B02-8B9B-D954FC99CD8C}" type="datetimeFigureOut">
              <a:rPr lang="en-IN" smtClean="0"/>
              <a:t>11-08-2024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A2BF0B-7E59-4F51-994B-BD9C9EE87950}" type="slidenum">
              <a:rPr lang="en-IN" smtClean="0"/>
              <a:t>‹#›</a:t>
            </a:fld>
            <a:endParaRPr lang="en-IN"/>
          </a:p>
        </p:txBody>
      </p:sp>
    </p:spTree>
    <p:extLst>
      <p:ext uri="{BB962C8B-B14F-4D97-AF65-F5344CB8AC3E}">
        <p14:creationId xmlns:p14="http://schemas.microsoft.com/office/powerpoint/2010/main" val="325632084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BBF10D-5553-4B02-8B9B-D954FC99CD8C}" type="datetimeFigureOut">
              <a:rPr lang="en-IN" smtClean="0"/>
              <a:t>11-08-2024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A2BF0B-7E59-4F51-994B-BD9C9EE87950}" type="slidenum">
              <a:rPr lang="en-IN" smtClean="0"/>
              <a:t>‹#›</a:t>
            </a:fld>
            <a:endParaRPr lang="en-IN"/>
          </a:p>
        </p:txBody>
      </p:sp>
    </p:spTree>
    <p:extLst>
      <p:ext uri="{BB962C8B-B14F-4D97-AF65-F5344CB8AC3E}">
        <p14:creationId xmlns:p14="http://schemas.microsoft.com/office/powerpoint/2010/main" val="37999512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BBF10D-5553-4B02-8B9B-D954FC99CD8C}" type="datetimeFigureOut">
              <a:rPr lang="en-IN" smtClean="0"/>
              <a:t>11-08-2024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A2BF0B-7E59-4F51-994B-BD9C9EE87950}" type="slidenum">
              <a:rPr lang="en-IN" smtClean="0"/>
              <a:t>‹#›</a:t>
            </a:fld>
            <a:endParaRPr lang="en-IN"/>
          </a:p>
        </p:txBody>
      </p:sp>
    </p:spTree>
    <p:extLst>
      <p:ext uri="{BB962C8B-B14F-4D97-AF65-F5344CB8AC3E}">
        <p14:creationId xmlns:p14="http://schemas.microsoft.com/office/powerpoint/2010/main" val="6518403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BBF10D-5553-4B02-8B9B-D954FC99CD8C}" type="datetimeFigureOut">
              <a:rPr lang="en-IN" smtClean="0"/>
              <a:t>11-08-2024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A2BF0B-7E59-4F51-994B-BD9C9EE87950}" type="slidenum">
              <a:rPr lang="en-IN" smtClean="0"/>
              <a:t>‹#›</a:t>
            </a:fld>
            <a:endParaRPr lang="en-IN"/>
          </a:p>
        </p:txBody>
      </p:sp>
    </p:spTree>
    <p:extLst>
      <p:ext uri="{BB962C8B-B14F-4D97-AF65-F5344CB8AC3E}">
        <p14:creationId xmlns:p14="http://schemas.microsoft.com/office/powerpoint/2010/main" val="4342915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BBF10D-5553-4B02-8B9B-D954FC99CD8C}" type="datetimeFigureOut">
              <a:rPr lang="en-IN" smtClean="0"/>
              <a:t>11-08-2024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A2BF0B-7E59-4F51-994B-BD9C9EE87950}"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5783007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BBF10D-5553-4B02-8B9B-D954FC99CD8C}" type="datetimeFigureOut">
              <a:rPr lang="en-IN" smtClean="0"/>
              <a:t>11-08-2024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A2BF0B-7E59-4F51-994B-BD9C9EE87950}" type="slidenum">
              <a:rPr lang="en-IN" smtClean="0"/>
              <a:t>‹#›</a:t>
            </a:fld>
            <a:endParaRPr lang="en-IN"/>
          </a:p>
        </p:txBody>
      </p:sp>
    </p:spTree>
    <p:extLst>
      <p:ext uri="{BB962C8B-B14F-4D97-AF65-F5344CB8AC3E}">
        <p14:creationId xmlns:p14="http://schemas.microsoft.com/office/powerpoint/2010/main" val="514072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DBBF10D-5553-4B02-8B9B-D954FC99CD8C}" type="datetimeFigureOut">
              <a:rPr lang="en-IN" smtClean="0"/>
              <a:t>11-08-2024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AA2BF0B-7E59-4F51-994B-BD9C9EE87950}" type="slidenum">
              <a:rPr lang="en-IN" smtClean="0"/>
              <a:t>‹#›</a:t>
            </a:fld>
            <a:endParaRPr lang="en-IN"/>
          </a:p>
        </p:txBody>
      </p:sp>
    </p:spTree>
    <p:extLst>
      <p:ext uri="{BB962C8B-B14F-4D97-AF65-F5344CB8AC3E}">
        <p14:creationId xmlns:p14="http://schemas.microsoft.com/office/powerpoint/2010/main" val="39816404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DBBF10D-5553-4B02-8B9B-D954FC99CD8C}" type="datetimeFigureOut">
              <a:rPr lang="en-IN" smtClean="0"/>
              <a:t>11-08-2024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AA2BF0B-7E59-4F51-994B-BD9C9EE87950}" type="slidenum">
              <a:rPr lang="en-IN" smtClean="0"/>
              <a:t>‹#›</a:t>
            </a:fld>
            <a:endParaRPr lang="en-IN"/>
          </a:p>
        </p:txBody>
      </p:sp>
    </p:spTree>
    <p:extLst>
      <p:ext uri="{BB962C8B-B14F-4D97-AF65-F5344CB8AC3E}">
        <p14:creationId xmlns:p14="http://schemas.microsoft.com/office/powerpoint/2010/main" val="5490059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BBF10D-5553-4B02-8B9B-D954FC99CD8C}" type="datetimeFigureOut">
              <a:rPr lang="en-IN" smtClean="0"/>
              <a:t>11-08-2024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A2BF0B-7E59-4F51-994B-BD9C9EE87950}" type="slidenum">
              <a:rPr lang="en-IN" smtClean="0"/>
              <a:t>‹#›</a:t>
            </a:fld>
            <a:endParaRPr lang="en-IN"/>
          </a:p>
        </p:txBody>
      </p:sp>
    </p:spTree>
    <p:extLst>
      <p:ext uri="{BB962C8B-B14F-4D97-AF65-F5344CB8AC3E}">
        <p14:creationId xmlns:p14="http://schemas.microsoft.com/office/powerpoint/2010/main" val="36385330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BBF10D-5553-4B02-8B9B-D954FC99CD8C}" type="datetimeFigureOut">
              <a:rPr lang="en-IN" smtClean="0"/>
              <a:t>11-08-2024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A2BF0B-7E59-4F51-994B-BD9C9EE87950}" type="slidenum">
              <a:rPr lang="en-IN" smtClean="0"/>
              <a:t>‹#›</a:t>
            </a:fld>
            <a:endParaRPr lang="en-IN"/>
          </a:p>
        </p:txBody>
      </p:sp>
    </p:spTree>
    <p:extLst>
      <p:ext uri="{BB962C8B-B14F-4D97-AF65-F5344CB8AC3E}">
        <p14:creationId xmlns:p14="http://schemas.microsoft.com/office/powerpoint/2010/main" val="84509378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BFE07-0681-0113-E706-5BAFF9B7262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D83FEF4-0A5F-4D75-812F-0C742CC8FD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CB1F11-09D2-194A-7058-B39DFB004A4A}"/>
              </a:ext>
            </a:extLst>
          </p:cNvPr>
          <p:cNvSpPr>
            <a:spLocks noGrp="1"/>
          </p:cNvSpPr>
          <p:nvPr>
            <p:ph type="dt" sz="half" idx="10"/>
          </p:nvPr>
        </p:nvSpPr>
        <p:spPr/>
        <p:txBody>
          <a:bodyPr/>
          <a:lstStyle/>
          <a:p>
            <a:fld id="{3DBBF10D-5553-4B02-8B9B-D954FC99CD8C}" type="datetimeFigureOut">
              <a:rPr lang="en-IN" smtClean="0"/>
              <a:t>11-08-2024</a:t>
            </a:fld>
            <a:endParaRPr lang="en-IN"/>
          </a:p>
        </p:txBody>
      </p:sp>
      <p:sp>
        <p:nvSpPr>
          <p:cNvPr id="5" name="Footer Placeholder 4">
            <a:extLst>
              <a:ext uri="{FF2B5EF4-FFF2-40B4-BE49-F238E27FC236}">
                <a16:creationId xmlns:a16="http://schemas.microsoft.com/office/drawing/2014/main" id="{C24DDB37-7CB8-CB31-D512-54A7B163BF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0498D2-823A-403E-2BDB-EE800563C574}"/>
              </a:ext>
            </a:extLst>
          </p:cNvPr>
          <p:cNvSpPr>
            <a:spLocks noGrp="1"/>
          </p:cNvSpPr>
          <p:nvPr>
            <p:ph type="sldNum" sz="quarter" idx="12"/>
          </p:nvPr>
        </p:nvSpPr>
        <p:spPr/>
        <p:txBody>
          <a:bodyPr/>
          <a:lstStyle/>
          <a:p>
            <a:fld id="{AAA2BF0B-7E59-4F51-994B-BD9C9EE87950}" type="slidenum">
              <a:rPr lang="en-IN" smtClean="0"/>
              <a:t>‹#›</a:t>
            </a:fld>
            <a:endParaRPr lang="en-IN"/>
          </a:p>
        </p:txBody>
      </p:sp>
    </p:spTree>
    <p:extLst>
      <p:ext uri="{BB962C8B-B14F-4D97-AF65-F5344CB8AC3E}">
        <p14:creationId xmlns:p14="http://schemas.microsoft.com/office/powerpoint/2010/main" val="363091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image" Target="../media/image1.png"/><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19" Type="http://schemas.openxmlformats.org/officeDocument/2006/relationships/theme" Target="../theme/theme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C288D0-A4BF-40B4-9D48-390073E6FAF5}" type="datetimeFigureOut">
              <a:rPr lang="en-US" smtClean="0"/>
              <a:t>8/11/2024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3D75CC-17A3-4613-A591-05C964DC20A7}" type="slidenum">
              <a:rPr lang="en-US" smtClean="0"/>
              <a:t>‹#›</a:t>
            </a:fld>
            <a:endParaRPr lang="en-US"/>
          </a:p>
        </p:txBody>
      </p:sp>
    </p:spTree>
    <p:extLst>
      <p:ext uri="{BB962C8B-B14F-4D97-AF65-F5344CB8AC3E}">
        <p14:creationId xmlns:p14="http://schemas.microsoft.com/office/powerpoint/2010/main" val="2871607649"/>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0FB54-B3C7-2F50-B798-A7C436512E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DC9BA4-48AC-01A9-56F6-B5E91507E3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8E41B7-6489-03C0-3E88-D215BDBDE1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0D92BC-42A9-434B-8530-ADBF4485E407}" type="datetimeFigureOut">
              <a:rPr lang="en-US" smtClean="0"/>
              <a:pPr/>
              <a:t>8/11/2024</a:t>
            </a:fld>
            <a:endParaRPr lang="en-US" dirty="0"/>
          </a:p>
        </p:txBody>
      </p:sp>
      <p:sp>
        <p:nvSpPr>
          <p:cNvPr id="5" name="Footer Placeholder 4">
            <a:extLst>
              <a:ext uri="{FF2B5EF4-FFF2-40B4-BE49-F238E27FC236}">
                <a16:creationId xmlns:a16="http://schemas.microsoft.com/office/drawing/2014/main" id="{903431E4-2919-7E28-74D2-DEDB452F7B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05F0B23-C243-D2BF-F9E3-98D45A3264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289F9E-9962-4B7B-BA18-A15907CCC6BF}" type="slidenum">
              <a:rPr lang="en-US" smtClean="0"/>
              <a:pPr/>
              <a:t>‹#›</a:t>
            </a:fld>
            <a:endParaRPr lang="en-US" dirty="0"/>
          </a:p>
        </p:txBody>
      </p:sp>
    </p:spTree>
    <p:extLst>
      <p:ext uri="{BB962C8B-B14F-4D97-AF65-F5344CB8AC3E}">
        <p14:creationId xmlns:p14="http://schemas.microsoft.com/office/powerpoint/2010/main" val="427276994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3DBBF10D-5553-4B02-8B9B-D954FC99CD8C}" type="datetimeFigureOut">
              <a:rPr lang="en-IN" smtClean="0"/>
              <a:t>11-08-2024</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AAA2BF0B-7E59-4F51-994B-BD9C9EE87950}" type="slidenum">
              <a:rPr lang="en-IN" smtClean="0"/>
              <a:t>‹#›</a:t>
            </a:fld>
            <a:endParaRPr lang="en-IN"/>
          </a:p>
        </p:txBody>
      </p:sp>
    </p:spTree>
    <p:extLst>
      <p:ext uri="{BB962C8B-B14F-4D97-AF65-F5344CB8AC3E}">
        <p14:creationId xmlns:p14="http://schemas.microsoft.com/office/powerpoint/2010/main" val="4049053198"/>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4212" b="4212"/>
          <a:stretch>
            <a:fillRect/>
          </a:stretch>
        </p:blipFill>
        <p:spPr>
          <a:xfrm>
            <a:off x="1585" y="-96716"/>
            <a:ext cx="12188825" cy="3836895"/>
          </a:xfrm>
        </p:spPr>
      </p:pic>
      <p:sp>
        <p:nvSpPr>
          <p:cNvPr id="10" name="Rectangle 9">
            <a:extLst>
              <a:ext uri="{FF2B5EF4-FFF2-40B4-BE49-F238E27FC236}">
                <a16:creationId xmlns:a16="http://schemas.microsoft.com/office/drawing/2014/main" id="{0541FEE5-9FD0-BD4E-AC40-271020500E53}"/>
              </a:ext>
            </a:extLst>
          </p:cNvPr>
          <p:cNvSpPr/>
          <p:nvPr/>
        </p:nvSpPr>
        <p:spPr>
          <a:xfrm rot="10800000" flipV="1">
            <a:off x="1588" y="3951066"/>
            <a:ext cx="12188825" cy="290602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3" name="Rectangle 12">
            <a:extLst>
              <a:ext uri="{FF2B5EF4-FFF2-40B4-BE49-F238E27FC236}">
                <a16:creationId xmlns:a16="http://schemas.microsoft.com/office/drawing/2014/main" id="{CECC7C0A-675A-9C4D-A327-F35452FC1A08}"/>
              </a:ext>
            </a:extLst>
          </p:cNvPr>
          <p:cNvSpPr/>
          <p:nvPr/>
        </p:nvSpPr>
        <p:spPr>
          <a:xfrm rot="10800000" flipV="1">
            <a:off x="1583" y="3836894"/>
            <a:ext cx="12188825" cy="23674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Pentagon 8">
            <a:extLst>
              <a:ext uri="{FF2B5EF4-FFF2-40B4-BE49-F238E27FC236}">
                <a16:creationId xmlns:a16="http://schemas.microsoft.com/office/drawing/2014/main" id="{3AAEF994-7E08-3740-B8DE-3594FC8EBA52}"/>
              </a:ext>
            </a:extLst>
          </p:cNvPr>
          <p:cNvSpPr/>
          <p:nvPr/>
        </p:nvSpPr>
        <p:spPr>
          <a:xfrm>
            <a:off x="1588" y="3065427"/>
            <a:ext cx="7688179" cy="1779676"/>
          </a:xfrm>
          <a:prstGeom prst="homePlate">
            <a:avLst>
              <a:gd name="adj" fmla="val 67822"/>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2" name="TextBox 11">
            <a:extLst>
              <a:ext uri="{FF2B5EF4-FFF2-40B4-BE49-F238E27FC236}">
                <a16:creationId xmlns:a16="http://schemas.microsoft.com/office/drawing/2014/main" id="{3D941E9C-FA32-F74C-9127-766BE39491C6}"/>
              </a:ext>
            </a:extLst>
          </p:cNvPr>
          <p:cNvSpPr txBox="1"/>
          <p:nvPr/>
        </p:nvSpPr>
        <p:spPr>
          <a:xfrm>
            <a:off x="203811" y="3624405"/>
            <a:ext cx="6609124" cy="707886"/>
          </a:xfrm>
          <a:prstGeom prst="rect">
            <a:avLst/>
          </a:prstGeom>
          <a:noFill/>
          <a:ln>
            <a:noFill/>
          </a:ln>
        </p:spPr>
        <p:txBody>
          <a:bodyPr wrap="square" rtlCol="0">
            <a:spAutoFit/>
          </a:bodyPr>
          <a:lstStyle/>
          <a:p>
            <a:r>
              <a:rPr lang="en-US" sz="4000" b="1" dirty="0">
                <a:solidFill>
                  <a:schemeClr val="bg1"/>
                </a:solidFill>
                <a:latin typeface="Poppins SemiBold" pitchFamily="2" charset="77"/>
                <a:ea typeface="Roboto Medium" panose="02000000000000000000" pitchFamily="2" charset="0"/>
                <a:cs typeface="Poppins SemiBold" pitchFamily="2" charset="77"/>
              </a:rPr>
              <a:t>HR Analytics</a:t>
            </a:r>
          </a:p>
        </p:txBody>
      </p:sp>
    </p:spTree>
    <p:extLst>
      <p:ext uri="{BB962C8B-B14F-4D97-AF65-F5344CB8AC3E}">
        <p14:creationId xmlns:p14="http://schemas.microsoft.com/office/powerpoint/2010/main" val="2743057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196882C2-B754-76AE-746A-DF27F8DBEA32}"/>
              </a:ext>
            </a:extLst>
          </p:cNvPr>
          <p:cNvPicPr>
            <a:picLocks noChangeAspect="1"/>
          </p:cNvPicPr>
          <p:nvPr/>
        </p:nvPicPr>
        <p:blipFill rotWithShape="1">
          <a:blip r:embed="rId2">
            <a:alphaModFix amt="35000"/>
          </a:blip>
          <a:srcRect l="2667"/>
          <a:stretch/>
        </p:blipFill>
        <p:spPr>
          <a:xfrm>
            <a:off x="-1" y="59536"/>
            <a:ext cx="12192001" cy="6857990"/>
          </a:xfrm>
          <a:prstGeom prst="rect">
            <a:avLst/>
          </a:prstGeom>
        </p:spPr>
      </p:pic>
      <p:sp>
        <p:nvSpPr>
          <p:cNvPr id="2" name="Title 1">
            <a:extLst>
              <a:ext uri="{FF2B5EF4-FFF2-40B4-BE49-F238E27FC236}">
                <a16:creationId xmlns:a16="http://schemas.microsoft.com/office/drawing/2014/main" id="{AB19CF30-F064-0CEB-5D90-6672E49FF94F}"/>
              </a:ext>
            </a:extLst>
          </p:cNvPr>
          <p:cNvSpPr>
            <a:spLocks noGrp="1"/>
          </p:cNvSpPr>
          <p:nvPr>
            <p:ph type="title"/>
          </p:nvPr>
        </p:nvSpPr>
        <p:spPr>
          <a:xfrm>
            <a:off x="619125" y="2827950"/>
            <a:ext cx="2892732" cy="1202100"/>
          </a:xfrm>
        </p:spPr>
        <p:txBody>
          <a:bodyPr>
            <a:normAutofit fontScale="90000"/>
          </a:bodyPr>
          <a:lstStyle/>
          <a:p>
            <a:r>
              <a:rPr lang="en-IN" sz="4800" b="1" dirty="0">
                <a:solidFill>
                  <a:srgbClr val="FFFFFF"/>
                </a:solidFill>
                <a:highlight>
                  <a:srgbClr val="000080"/>
                </a:highlight>
                <a:latin typeface="Amasis MT Pro Medium" panose="02040604050005020304" pitchFamily="18" charset="0"/>
              </a:rPr>
              <a:t>AGENDA :</a:t>
            </a:r>
          </a:p>
        </p:txBody>
      </p:sp>
      <p:graphicFrame>
        <p:nvGraphicFramePr>
          <p:cNvPr id="41" name="Content Placeholder 2">
            <a:extLst>
              <a:ext uri="{FF2B5EF4-FFF2-40B4-BE49-F238E27FC236}">
                <a16:creationId xmlns:a16="http://schemas.microsoft.com/office/drawing/2014/main" id="{D83F8A1F-6153-F2ED-EBE4-922C9A4260D1}"/>
              </a:ext>
            </a:extLst>
          </p:cNvPr>
          <p:cNvGraphicFramePr>
            <a:graphicFrameLocks noGrp="1"/>
          </p:cNvGraphicFramePr>
          <p:nvPr>
            <p:ph idx="1"/>
            <p:extLst>
              <p:ext uri="{D42A27DB-BD31-4B8C-83A1-F6EECF244321}">
                <p14:modId xmlns:p14="http://schemas.microsoft.com/office/powerpoint/2010/main" val="2155572536"/>
              </p:ext>
            </p:extLst>
          </p:nvPr>
        </p:nvGraphicFramePr>
        <p:xfrm>
          <a:off x="4350058" y="800100"/>
          <a:ext cx="7003741" cy="53768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76568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F56A8-8903-24D7-D530-A2610FB80349}"/>
              </a:ext>
            </a:extLst>
          </p:cNvPr>
          <p:cNvSpPr>
            <a:spLocks noGrp="1"/>
          </p:cNvSpPr>
          <p:nvPr>
            <p:ph type="title"/>
          </p:nvPr>
        </p:nvSpPr>
        <p:spPr>
          <a:xfrm>
            <a:off x="838200" y="84842"/>
            <a:ext cx="10515600" cy="744718"/>
          </a:xfrm>
        </p:spPr>
        <p:txBody>
          <a:bodyPr>
            <a:normAutofit/>
          </a:bodyPr>
          <a:lstStyle/>
          <a:p>
            <a:r>
              <a:rPr lang="en-IN" sz="2800" b="1" dirty="0">
                <a:solidFill>
                  <a:schemeClr val="accent1">
                    <a:lumMod val="75000"/>
                  </a:schemeClr>
                </a:solidFill>
                <a:latin typeface="Tahoma" panose="020B0604030504040204" pitchFamily="34" charset="0"/>
                <a:ea typeface="Tahoma" panose="020B0604030504040204" pitchFamily="34" charset="0"/>
                <a:cs typeface="Tahoma" panose="020B0604030504040204" pitchFamily="34" charset="0"/>
              </a:rPr>
              <a:t>Introduction</a:t>
            </a:r>
          </a:p>
        </p:txBody>
      </p:sp>
      <p:sp>
        <p:nvSpPr>
          <p:cNvPr id="3" name="Content Placeholder 2">
            <a:extLst>
              <a:ext uri="{FF2B5EF4-FFF2-40B4-BE49-F238E27FC236}">
                <a16:creationId xmlns:a16="http://schemas.microsoft.com/office/drawing/2014/main" id="{CF0436E6-58FE-D2F6-2875-1EBC2FF7DFD9}"/>
              </a:ext>
            </a:extLst>
          </p:cNvPr>
          <p:cNvSpPr>
            <a:spLocks noGrp="1"/>
          </p:cNvSpPr>
          <p:nvPr>
            <p:ph idx="1"/>
          </p:nvPr>
        </p:nvSpPr>
        <p:spPr>
          <a:xfrm>
            <a:off x="838200" y="914400"/>
            <a:ext cx="10515600" cy="5262563"/>
          </a:xfrm>
        </p:spPr>
        <p:txBody>
          <a:bodyPr>
            <a:normAutofit/>
          </a:bodyPr>
          <a:lstStyle/>
          <a:p>
            <a:pPr marL="0" indent="0">
              <a:lnSpc>
                <a:spcPct val="110000"/>
              </a:lnSpc>
              <a:buNone/>
            </a:pPr>
            <a:endParaRPr lang="en-US" sz="2000" dirty="0"/>
          </a:p>
          <a:p>
            <a:pPr marL="0" indent="0">
              <a:lnSpc>
                <a:spcPct val="110000"/>
              </a:lnSpc>
              <a:buNone/>
            </a:pPr>
            <a:r>
              <a:rPr lang="en-US" sz="2000" dirty="0"/>
              <a:t>HR analysis leverages data to improve workforce management by identifying trends, optimizing talent strategies, and enhancing employee engagement. By analyzing metrics such as turnover, productivity, and diversity, HR analysis enables data-driven decision-making to foster a more effective and inclusive work environment.</a:t>
            </a:r>
          </a:p>
          <a:p>
            <a:pPr marL="0" indent="0">
              <a:lnSpc>
                <a:spcPct val="110000"/>
              </a:lnSpc>
              <a:buNone/>
            </a:pPr>
            <a:endParaRPr lang="en-US" sz="2000" dirty="0"/>
          </a:p>
          <a:p>
            <a:pPr marL="0" indent="0">
              <a:buNone/>
            </a:pPr>
            <a:r>
              <a:rPr lang="en-IN" sz="2600" b="1" dirty="0">
                <a:solidFill>
                  <a:schemeClr val="accent1">
                    <a:lumMod val="75000"/>
                  </a:schemeClr>
                </a:solidFill>
                <a:latin typeface="Tahoma" panose="020B0604030504040204" pitchFamily="34" charset="0"/>
                <a:ea typeface="Tahoma" panose="020B0604030504040204" pitchFamily="34" charset="0"/>
                <a:cs typeface="Tahoma" panose="020B0604030504040204" pitchFamily="34" charset="0"/>
              </a:rPr>
              <a:t>Objectives</a:t>
            </a:r>
            <a:br>
              <a:rPr lang="en-US" sz="2600" b="1" dirty="0">
                <a:solidFill>
                  <a:schemeClr val="accent1">
                    <a:lumMod val="75000"/>
                  </a:schemeClr>
                </a:solidFill>
                <a:latin typeface="Tahoma" panose="020B0604030504040204" pitchFamily="34" charset="0"/>
                <a:ea typeface="Tahoma" panose="020B0604030504040204" pitchFamily="34" charset="0"/>
                <a:cs typeface="Tahoma" panose="020B0604030504040204" pitchFamily="34" charset="0"/>
              </a:rPr>
            </a:br>
            <a:endParaRPr lang="en-US" sz="2600" b="1" dirty="0">
              <a:solidFill>
                <a:schemeClr val="accent1">
                  <a:lumMod val="75000"/>
                </a:schemeClr>
              </a:solidFill>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2000" dirty="0"/>
              <a:t>The objectives of HR analysis include enhancing employee retention by identifying turnover causes, optimizing recruitment and talent management processes, and improving overall workforce productivity. Additionally, HR analysis aims to support diversity and inclusion initiatives, monitor employee satisfaction, and ensure alignment of HR strategies with organizational goals.</a:t>
            </a:r>
          </a:p>
          <a:p>
            <a:pPr marL="0" indent="0">
              <a:buNone/>
            </a:pPr>
            <a:endParaRPr lang="en-IN" sz="2000" dirty="0"/>
          </a:p>
        </p:txBody>
      </p:sp>
    </p:spTree>
    <p:extLst>
      <p:ext uri="{BB962C8B-B14F-4D97-AF65-F5344CB8AC3E}">
        <p14:creationId xmlns:p14="http://schemas.microsoft.com/office/powerpoint/2010/main" val="3464987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AB0419B-CB6F-4EBC-1721-EC380D5602FF}"/>
              </a:ext>
            </a:extLst>
          </p:cNvPr>
          <p:cNvSpPr>
            <a:spLocks noGrp="1"/>
          </p:cNvSpPr>
          <p:nvPr>
            <p:ph type="title"/>
          </p:nvPr>
        </p:nvSpPr>
        <p:spPr>
          <a:xfrm>
            <a:off x="838200" y="365125"/>
            <a:ext cx="5558489" cy="1325563"/>
          </a:xfrm>
        </p:spPr>
        <p:txBody>
          <a:bodyPr>
            <a:normAutofit/>
          </a:bodyPr>
          <a:lstStyle/>
          <a:p>
            <a:r>
              <a:rPr lang="en-IN" b="1" dirty="0">
                <a:solidFill>
                  <a:schemeClr val="accent2"/>
                </a:solidFill>
                <a:latin typeface="Amasis MT Pro Medium" panose="02040604050005020304" pitchFamily="18" charset="0"/>
              </a:rPr>
              <a:t>Business Objective:</a:t>
            </a:r>
          </a:p>
        </p:txBody>
      </p:sp>
      <p:sp>
        <p:nvSpPr>
          <p:cNvPr id="34" name="Freeform: Shape 33">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D6B8C4F-7D2D-8B14-282C-38161EFEAD52}"/>
              </a:ext>
            </a:extLst>
          </p:cNvPr>
          <p:cNvSpPr>
            <a:spLocks noGrp="1"/>
          </p:cNvSpPr>
          <p:nvPr>
            <p:ph idx="1"/>
          </p:nvPr>
        </p:nvSpPr>
        <p:spPr>
          <a:xfrm>
            <a:off x="838200" y="1825625"/>
            <a:ext cx="5558489" cy="4351338"/>
          </a:xfrm>
        </p:spPr>
        <p:txBody>
          <a:bodyPr>
            <a:noAutofit/>
          </a:bodyPr>
          <a:lstStyle/>
          <a:p>
            <a:pPr marL="0" indent="0" algn="just">
              <a:buNone/>
            </a:pPr>
            <a:r>
              <a:rPr lang="en-US" sz="2000" b="0" i="0" dirty="0">
                <a:effectLst/>
              </a:rPr>
              <a:t>The aim of this project is to analyze employee retention and attrition rates with the organization and provide insights to the HR team for developing effective retention strategies. Through data analysis and visualizations, we will identify factors that contribute to :</a:t>
            </a:r>
          </a:p>
          <a:p>
            <a:pPr algn="just">
              <a:buFont typeface="Wingdings" panose="05000000000000000000" pitchFamily="2" charset="2"/>
              <a:buChar char="ü"/>
            </a:pPr>
            <a:r>
              <a:rPr lang="en-US" sz="2000" dirty="0"/>
              <a:t>E</a:t>
            </a:r>
            <a:r>
              <a:rPr lang="en-US" sz="2000" b="0" i="0" dirty="0">
                <a:effectLst/>
              </a:rPr>
              <a:t>mployee turnover and attrition.</a:t>
            </a:r>
          </a:p>
          <a:p>
            <a:pPr algn="just">
              <a:buFont typeface="Wingdings" panose="05000000000000000000" pitchFamily="2" charset="2"/>
              <a:buChar char="ü"/>
            </a:pPr>
            <a:r>
              <a:rPr lang="en-US" sz="2000" dirty="0"/>
              <a:t>E</a:t>
            </a:r>
            <a:r>
              <a:rPr lang="en-US" sz="2000" b="0" i="0" dirty="0">
                <a:effectLst/>
              </a:rPr>
              <a:t>valuate the effectiveness of existing retention strategies. </a:t>
            </a:r>
          </a:p>
          <a:p>
            <a:pPr algn="just">
              <a:buFont typeface="Wingdings" panose="05000000000000000000" pitchFamily="2" charset="2"/>
              <a:buChar char="ü"/>
            </a:pPr>
            <a:r>
              <a:rPr lang="en-US" sz="2000" b="0" i="0" dirty="0">
                <a:effectLst/>
              </a:rPr>
              <a:t>To verify the satisfaction level of employee in the organization.</a:t>
            </a:r>
          </a:p>
          <a:p>
            <a:pPr algn="just">
              <a:buFont typeface="Wingdings" panose="05000000000000000000" pitchFamily="2" charset="2"/>
              <a:buChar char="ü"/>
            </a:pPr>
            <a:r>
              <a:rPr lang="en-US" sz="2000" dirty="0"/>
              <a:t>P</a:t>
            </a:r>
            <a:r>
              <a:rPr lang="en-US" sz="2000" b="0" i="0" dirty="0">
                <a:effectLst/>
              </a:rPr>
              <a:t>rovide recommendations to improve employee retention.</a:t>
            </a:r>
          </a:p>
        </p:txBody>
      </p:sp>
      <p:sp>
        <p:nvSpPr>
          <p:cNvPr id="36" name="Oval 35">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8" name="Block Arc 37">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2" name="Straight Connector 41">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4" name="Freeform: Shape 43">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Arc 45">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Freeform: Shape 47">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3642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61680-B560-8C7E-FB01-3FF62DA46DD1}"/>
              </a:ext>
            </a:extLst>
          </p:cNvPr>
          <p:cNvSpPr>
            <a:spLocks noGrp="1"/>
          </p:cNvSpPr>
          <p:nvPr>
            <p:ph type="title"/>
          </p:nvPr>
        </p:nvSpPr>
        <p:spPr>
          <a:xfrm>
            <a:off x="838200" y="65989"/>
            <a:ext cx="10515600" cy="615048"/>
          </a:xfrm>
        </p:spPr>
        <p:txBody>
          <a:bodyPr/>
          <a:lstStyle/>
          <a:p>
            <a:r>
              <a:rPr lang="en-IN" sz="2800" b="1" dirty="0">
                <a:solidFill>
                  <a:schemeClr val="accent1">
                    <a:lumMod val="75000"/>
                  </a:schemeClr>
                </a:solidFill>
                <a:latin typeface="Tahoma" panose="020B0604030504040204" pitchFamily="34" charset="0"/>
                <a:ea typeface="Tahoma" panose="020B0604030504040204" pitchFamily="34" charset="0"/>
                <a:cs typeface="Tahoma" panose="020B0604030504040204" pitchFamily="34" charset="0"/>
              </a:rPr>
              <a:t>Data Overview and Methodology</a:t>
            </a:r>
          </a:p>
        </p:txBody>
      </p:sp>
      <p:sp>
        <p:nvSpPr>
          <p:cNvPr id="3" name="Content Placeholder 2">
            <a:extLst>
              <a:ext uri="{FF2B5EF4-FFF2-40B4-BE49-F238E27FC236}">
                <a16:creationId xmlns:a16="http://schemas.microsoft.com/office/drawing/2014/main" id="{D0F1EE6C-BE43-7395-5478-6255673FFC25}"/>
              </a:ext>
            </a:extLst>
          </p:cNvPr>
          <p:cNvSpPr>
            <a:spLocks noGrp="1"/>
          </p:cNvSpPr>
          <p:nvPr>
            <p:ph idx="1"/>
          </p:nvPr>
        </p:nvSpPr>
        <p:spPr>
          <a:xfrm>
            <a:off x="838200" y="820132"/>
            <a:ext cx="10515600" cy="5750350"/>
          </a:xfrm>
        </p:spPr>
        <p:txBody>
          <a:bodyPr>
            <a:normAutofit/>
          </a:bodyPr>
          <a:lstStyle/>
          <a:p>
            <a:pPr marL="0" indent="0">
              <a:lnSpc>
                <a:spcPct val="110000"/>
              </a:lnSpc>
              <a:buNone/>
            </a:pPr>
            <a:r>
              <a:rPr lang="en-IN" sz="2000" b="1" dirty="0">
                <a:solidFill>
                  <a:schemeClr val="accent1">
                    <a:lumMod val="75000"/>
                  </a:schemeClr>
                </a:solidFill>
                <a:latin typeface="Tahoma" panose="020B0604030504040204" pitchFamily="34" charset="0"/>
                <a:ea typeface="Tahoma" panose="020B0604030504040204" pitchFamily="34" charset="0"/>
                <a:cs typeface="Tahoma" panose="020B0604030504040204" pitchFamily="34" charset="0"/>
              </a:rPr>
              <a:t>Data Overview:</a:t>
            </a:r>
          </a:p>
          <a:p>
            <a:pPr marL="0" indent="0">
              <a:buNone/>
            </a:pPr>
            <a:r>
              <a:rPr lang="en-US" sz="1600" b="1" dirty="0"/>
              <a:t>Datasets:</a:t>
            </a:r>
          </a:p>
          <a:p>
            <a:pPr>
              <a:buFont typeface="Arial" panose="020B0604020202020204" pitchFamily="34" charset="0"/>
              <a:buChar char="•"/>
            </a:pPr>
            <a:r>
              <a:rPr lang="en-US" sz="1600" b="1" dirty="0"/>
              <a:t>HR_1:</a:t>
            </a:r>
            <a:r>
              <a:rPr lang="en-US" sz="1600" dirty="0"/>
              <a:t> Contains Employee details like  Educational field, department, Job role and hourly rate.</a:t>
            </a:r>
          </a:p>
          <a:p>
            <a:pPr>
              <a:lnSpc>
                <a:spcPct val="150000"/>
              </a:lnSpc>
              <a:buFont typeface="Arial" panose="020B0604020202020204" pitchFamily="34" charset="0"/>
              <a:buChar char="•"/>
            </a:pPr>
            <a:r>
              <a:rPr lang="en-US" sz="1600" b="1" dirty="0"/>
              <a:t>HR_2:</a:t>
            </a:r>
            <a:r>
              <a:rPr lang="en-US" sz="1600" dirty="0"/>
              <a:t> Includes Employee history, monthly income, Number Of companies worked and Total working Years .</a:t>
            </a:r>
            <a:endParaRPr lang="en-IN" sz="1600" b="1" dirty="0"/>
          </a:p>
          <a:p>
            <a:pPr marL="0" indent="0">
              <a:lnSpc>
                <a:spcPct val="100000"/>
              </a:lnSpc>
              <a:buNone/>
            </a:pPr>
            <a:endParaRPr lang="en-IN" sz="2000" b="1" dirty="0">
              <a:solidFill>
                <a:schemeClr val="accent1">
                  <a:lumMod val="75000"/>
                </a:schemeClr>
              </a:solidFill>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buNone/>
            </a:pPr>
            <a:r>
              <a:rPr lang="en-IN" sz="2000" b="1" dirty="0">
                <a:solidFill>
                  <a:schemeClr val="accent1">
                    <a:lumMod val="75000"/>
                  </a:schemeClr>
                </a:solidFill>
                <a:latin typeface="Tahoma" panose="020B0604030504040204" pitchFamily="34" charset="0"/>
                <a:ea typeface="Tahoma" panose="020B0604030504040204" pitchFamily="34" charset="0"/>
                <a:cs typeface="Tahoma" panose="020B0604030504040204" pitchFamily="34" charset="0"/>
              </a:rPr>
              <a:t>Methodology:</a:t>
            </a:r>
          </a:p>
          <a:p>
            <a:pPr marL="0" indent="0">
              <a:lnSpc>
                <a:spcPct val="100000"/>
              </a:lnSpc>
              <a:buNone/>
            </a:pPr>
            <a:r>
              <a:rPr lang="en-US" sz="1600" b="1" dirty="0"/>
              <a:t>Data Preparation:</a:t>
            </a:r>
          </a:p>
          <a:p>
            <a:pPr>
              <a:buFont typeface="Arial" panose="020B0604020202020204" pitchFamily="34" charset="0"/>
              <a:buChar char="•"/>
            </a:pPr>
            <a:r>
              <a:rPr lang="en-US" sz="1600" dirty="0"/>
              <a:t>Data cleaning and integration from Excel and CSV sources.</a:t>
            </a:r>
          </a:p>
          <a:p>
            <a:pPr>
              <a:buFont typeface="Arial" panose="020B0604020202020204" pitchFamily="34" charset="0"/>
              <a:buChar char="•"/>
            </a:pPr>
            <a:r>
              <a:rPr lang="en-US" sz="1600" dirty="0"/>
              <a:t>Handling missing values and outliers.</a:t>
            </a:r>
          </a:p>
          <a:p>
            <a:pPr marL="0" indent="0">
              <a:buNone/>
            </a:pPr>
            <a:r>
              <a:rPr lang="en-US" sz="1600" b="1" dirty="0"/>
              <a:t>Analysis Tools:</a:t>
            </a:r>
          </a:p>
          <a:p>
            <a:pPr>
              <a:buFont typeface="Arial" panose="020B0604020202020204" pitchFamily="34" charset="0"/>
              <a:buChar char="•"/>
            </a:pPr>
            <a:r>
              <a:rPr lang="en-US" sz="1600" b="1" dirty="0"/>
              <a:t>Excel:</a:t>
            </a:r>
            <a:r>
              <a:rPr lang="en-US" sz="1600" dirty="0"/>
              <a:t> Initial data exploration and summary statistics.</a:t>
            </a:r>
          </a:p>
          <a:p>
            <a:pPr>
              <a:buFont typeface="Arial" panose="020B0604020202020204" pitchFamily="34" charset="0"/>
              <a:buChar char="•"/>
            </a:pPr>
            <a:r>
              <a:rPr lang="en-US" sz="1600" b="1" dirty="0"/>
              <a:t>Tableau &amp; Power BI:</a:t>
            </a:r>
            <a:r>
              <a:rPr lang="en-US" sz="1600" dirty="0"/>
              <a:t> Visualization of trends and patterns.</a:t>
            </a:r>
          </a:p>
          <a:p>
            <a:pPr>
              <a:buFont typeface="Arial" panose="020B0604020202020204" pitchFamily="34" charset="0"/>
              <a:buChar char="•"/>
            </a:pPr>
            <a:r>
              <a:rPr lang="en-US" sz="1600" b="1" dirty="0"/>
              <a:t>SQL:</a:t>
            </a:r>
            <a:r>
              <a:rPr lang="en-US" sz="1600" dirty="0"/>
              <a:t> Data querying and transformation.</a:t>
            </a:r>
          </a:p>
          <a:p>
            <a:pPr marL="0" indent="0">
              <a:buNone/>
            </a:pPr>
            <a:endParaRPr lang="en-US" sz="1100" dirty="0"/>
          </a:p>
          <a:p>
            <a:pPr marL="0" indent="0">
              <a:buNone/>
            </a:pPr>
            <a:endParaRPr lang="en-US" sz="1600" dirty="0"/>
          </a:p>
          <a:p>
            <a:pPr marL="0" indent="0">
              <a:lnSpc>
                <a:spcPct val="100000"/>
              </a:lnSpc>
              <a:buNone/>
            </a:pPr>
            <a:endParaRPr lang="en-IN" sz="2400" b="1" dirty="0">
              <a:solidFill>
                <a:schemeClr val="accent1">
                  <a:lumMod val="75000"/>
                </a:schemeClr>
              </a:solidFill>
              <a:latin typeface="Tahoma" panose="020B0604030504040204" pitchFamily="34" charset="0"/>
              <a:ea typeface="Tahoma" panose="020B0604030504040204" pitchFamily="34" charset="0"/>
              <a:cs typeface="Tahoma" panose="020B0604030504040204" pitchFamily="34" charset="0"/>
            </a:endParaRPr>
          </a:p>
          <a:p>
            <a:pPr marL="0" indent="0">
              <a:buNone/>
            </a:pPr>
            <a:endParaRPr lang="en-US" sz="1400" dirty="0"/>
          </a:p>
          <a:p>
            <a:pPr marL="0" indent="0">
              <a:buNone/>
            </a:pPr>
            <a:endParaRPr lang="en-IN" sz="2000" b="1" dirty="0"/>
          </a:p>
        </p:txBody>
      </p:sp>
    </p:spTree>
    <p:extLst>
      <p:ext uri="{BB962C8B-B14F-4D97-AF65-F5344CB8AC3E}">
        <p14:creationId xmlns:p14="http://schemas.microsoft.com/office/powerpoint/2010/main" val="1160527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Flowchart: Document 31">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3C3F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881CDEC-73FF-560A-628E-92EFF5B012BA}"/>
              </a:ext>
            </a:extLst>
          </p:cNvPr>
          <p:cNvSpPr>
            <a:spLocks noGrp="1"/>
          </p:cNvSpPr>
          <p:nvPr>
            <p:ph type="title"/>
          </p:nvPr>
        </p:nvSpPr>
        <p:spPr>
          <a:xfrm>
            <a:off x="638175" y="142132"/>
            <a:ext cx="3248025" cy="2371148"/>
          </a:xfrm>
          <a:prstGeom prst="ellipse">
            <a:avLst/>
          </a:prstGeom>
        </p:spPr>
        <p:txBody>
          <a:bodyPr vert="horz" lIns="91440" tIns="45720" rIns="91440" bIns="45720" rtlCol="0" anchor="ctr">
            <a:noAutofit/>
          </a:bodyPr>
          <a:lstStyle/>
          <a:p>
            <a:pPr algn="ctr"/>
            <a:r>
              <a:rPr lang="en-US" sz="2800" b="1" kern="1200" dirty="0">
                <a:solidFill>
                  <a:srgbClr val="FFFFFF"/>
                </a:solidFill>
                <a:latin typeface="Amasis MT Pro Medium" panose="02040604050005020304" pitchFamily="18" charset="0"/>
              </a:rPr>
              <a:t>KPI 1</a:t>
            </a:r>
            <a:br>
              <a:rPr lang="en-US" sz="2800" b="1" kern="1200" dirty="0">
                <a:solidFill>
                  <a:srgbClr val="FFFFFF"/>
                </a:solidFill>
                <a:latin typeface="Amasis MT Pro Medium" panose="02040604050005020304" pitchFamily="18" charset="0"/>
              </a:rPr>
            </a:br>
            <a:r>
              <a:rPr lang="en-US" sz="2800" b="1" kern="1200" dirty="0">
                <a:solidFill>
                  <a:srgbClr val="FFFFFF"/>
                </a:solidFill>
                <a:latin typeface="Amasis MT Pro Medium" panose="02040604050005020304" pitchFamily="18" charset="0"/>
              </a:rPr>
              <a:t>Average Attrition rate for all Departments</a:t>
            </a:r>
          </a:p>
        </p:txBody>
      </p:sp>
      <p:sp>
        <p:nvSpPr>
          <p:cNvPr id="13" name="TextBox 12">
            <a:extLst>
              <a:ext uri="{FF2B5EF4-FFF2-40B4-BE49-F238E27FC236}">
                <a16:creationId xmlns:a16="http://schemas.microsoft.com/office/drawing/2014/main" id="{1D048925-DD9D-208A-6FD2-BD0E8801E1B8}"/>
              </a:ext>
            </a:extLst>
          </p:cNvPr>
          <p:cNvSpPr txBox="1"/>
          <p:nvPr/>
        </p:nvSpPr>
        <p:spPr>
          <a:xfrm>
            <a:off x="4006392" y="783644"/>
            <a:ext cx="7975076" cy="101566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alibri" panose="020F0502020204030204"/>
                <a:ea typeface="+mn-ea"/>
                <a:cs typeface="+mn-cs"/>
              </a:rPr>
              <a:t>This KPI is to find out the relationship between each department and its attrition rate and here attrition rate is highest for Research &amp; Development Department whereas lowest is for Hardware Department.</a:t>
            </a:r>
          </a:p>
        </p:txBody>
      </p:sp>
      <p:pic>
        <p:nvPicPr>
          <p:cNvPr id="4" name="Picture 3">
            <a:extLst>
              <a:ext uri="{FF2B5EF4-FFF2-40B4-BE49-F238E27FC236}">
                <a16:creationId xmlns:a16="http://schemas.microsoft.com/office/drawing/2014/main" id="{CCEA0045-07C9-1B10-3D19-4A755D824F5B}"/>
              </a:ext>
            </a:extLst>
          </p:cNvPr>
          <p:cNvPicPr>
            <a:picLocks noChangeAspect="1"/>
          </p:cNvPicPr>
          <p:nvPr/>
        </p:nvPicPr>
        <p:blipFill>
          <a:blip r:embed="rId2"/>
          <a:stretch>
            <a:fillRect/>
          </a:stretch>
        </p:blipFill>
        <p:spPr>
          <a:xfrm>
            <a:off x="638175" y="3667027"/>
            <a:ext cx="4329751" cy="2799761"/>
          </a:xfrm>
          <a:prstGeom prst="rect">
            <a:avLst/>
          </a:prstGeom>
        </p:spPr>
      </p:pic>
      <p:sp>
        <p:nvSpPr>
          <p:cNvPr id="12" name="Rectangle: Rounded Corners 11">
            <a:extLst>
              <a:ext uri="{FF2B5EF4-FFF2-40B4-BE49-F238E27FC236}">
                <a16:creationId xmlns:a16="http://schemas.microsoft.com/office/drawing/2014/main" id="{F62509C6-D0E6-49B5-952F-31F607619C5F}"/>
              </a:ext>
            </a:extLst>
          </p:cNvPr>
          <p:cNvSpPr/>
          <p:nvPr/>
        </p:nvSpPr>
        <p:spPr>
          <a:xfrm>
            <a:off x="6096000" y="2085041"/>
            <a:ext cx="3487917" cy="669303"/>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dirty="0">
                <a:latin typeface="Amasis MT Pro Medium" panose="02040604050005020304" pitchFamily="18" charset="0"/>
              </a:rPr>
              <a:t>Insights from KPI 1:</a:t>
            </a:r>
            <a:endParaRPr lang="en-IN" dirty="0"/>
          </a:p>
        </p:txBody>
      </p:sp>
      <p:sp>
        <p:nvSpPr>
          <p:cNvPr id="14" name="Rectangle: Rounded Corners 13">
            <a:extLst>
              <a:ext uri="{FF2B5EF4-FFF2-40B4-BE49-F238E27FC236}">
                <a16:creationId xmlns:a16="http://schemas.microsoft.com/office/drawing/2014/main" id="{EBA60AE2-319A-8252-0823-AE365D901FDA}"/>
              </a:ext>
            </a:extLst>
          </p:cNvPr>
          <p:cNvSpPr/>
          <p:nvPr/>
        </p:nvSpPr>
        <p:spPr>
          <a:xfrm>
            <a:off x="6096000" y="3040078"/>
            <a:ext cx="5457825" cy="1745627"/>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kern="1200" dirty="0"/>
              <a:t>We can clearly say that attrition rate of employees for every department is almost 50% which indicates that attrition rate of employees does not depends on department. So, irrespective of the department almost 50% of employees are leaving the company.</a:t>
            </a:r>
          </a:p>
          <a:p>
            <a:pPr algn="ctr"/>
            <a:endParaRPr lang="en-IN" dirty="0"/>
          </a:p>
        </p:txBody>
      </p:sp>
      <p:sp>
        <p:nvSpPr>
          <p:cNvPr id="15" name="Rectangle: Rounded Corners 14">
            <a:extLst>
              <a:ext uri="{FF2B5EF4-FFF2-40B4-BE49-F238E27FC236}">
                <a16:creationId xmlns:a16="http://schemas.microsoft.com/office/drawing/2014/main" id="{9E4A5976-C5A0-F206-6C58-5B930959EDF1}"/>
              </a:ext>
            </a:extLst>
          </p:cNvPr>
          <p:cNvSpPr/>
          <p:nvPr/>
        </p:nvSpPr>
        <p:spPr>
          <a:xfrm>
            <a:off x="6096000" y="4870449"/>
            <a:ext cx="5457825" cy="1745627"/>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just"/>
            <a:r>
              <a:rPr lang="en-US" sz="1400" dirty="0"/>
              <a:t>From this calculation and visualization we concluded that we must make strong strategies to minimize attrition rate and improve our company’s Employee retention so that we can balance the company’s growth and right talent.</a:t>
            </a:r>
          </a:p>
          <a:p>
            <a:pPr algn="ctr"/>
            <a:endParaRPr lang="en-IN" dirty="0"/>
          </a:p>
        </p:txBody>
      </p:sp>
    </p:spTree>
    <p:extLst>
      <p:ext uri="{BB962C8B-B14F-4D97-AF65-F5344CB8AC3E}">
        <p14:creationId xmlns:p14="http://schemas.microsoft.com/office/powerpoint/2010/main" val="3674682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Flowchart: Document 31">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3C3F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881CDEC-73FF-560A-628E-92EFF5B012BA}"/>
              </a:ext>
            </a:extLst>
          </p:cNvPr>
          <p:cNvSpPr>
            <a:spLocks noGrp="1"/>
          </p:cNvSpPr>
          <p:nvPr>
            <p:ph type="title"/>
          </p:nvPr>
        </p:nvSpPr>
        <p:spPr>
          <a:xfrm>
            <a:off x="638175" y="142132"/>
            <a:ext cx="3248025" cy="2371148"/>
          </a:xfrm>
          <a:prstGeom prst="ellipse">
            <a:avLst/>
          </a:prstGeom>
        </p:spPr>
        <p:txBody>
          <a:bodyPr vert="horz" lIns="91440" tIns="45720" rIns="91440" bIns="45720" rtlCol="0" anchor="ctr">
            <a:noAutofit/>
          </a:bodyPr>
          <a:lstStyle/>
          <a:p>
            <a:pPr algn="ctr"/>
            <a:r>
              <a:rPr lang="en-US" sz="2800" b="1" kern="1200" dirty="0">
                <a:solidFill>
                  <a:srgbClr val="FFFFFF"/>
                </a:solidFill>
                <a:latin typeface="Amasis MT Pro Medium" panose="02040604050005020304" pitchFamily="18" charset="0"/>
              </a:rPr>
              <a:t>KPI 2</a:t>
            </a:r>
            <a:br>
              <a:rPr lang="en-US" sz="2800" b="1" kern="1200" dirty="0">
                <a:solidFill>
                  <a:srgbClr val="FFFFFF"/>
                </a:solidFill>
                <a:latin typeface="Amasis MT Pro Medium" panose="02040604050005020304" pitchFamily="18" charset="0"/>
              </a:rPr>
            </a:br>
            <a:r>
              <a:rPr lang="en-US" sz="2800" b="1" kern="1200" dirty="0">
                <a:solidFill>
                  <a:srgbClr val="FFFFFF"/>
                </a:solidFill>
                <a:latin typeface="Amasis MT Pro Medium" panose="02040604050005020304" pitchFamily="18" charset="0"/>
              </a:rPr>
              <a:t>Average Hourly rate of Male Research Scientist</a:t>
            </a:r>
          </a:p>
        </p:txBody>
      </p:sp>
      <p:sp>
        <p:nvSpPr>
          <p:cNvPr id="13" name="TextBox 12">
            <a:extLst>
              <a:ext uri="{FF2B5EF4-FFF2-40B4-BE49-F238E27FC236}">
                <a16:creationId xmlns:a16="http://schemas.microsoft.com/office/drawing/2014/main" id="{1D048925-DD9D-208A-6FD2-BD0E8801E1B8}"/>
              </a:ext>
            </a:extLst>
          </p:cNvPr>
          <p:cNvSpPr txBox="1"/>
          <p:nvPr/>
        </p:nvSpPr>
        <p:spPr>
          <a:xfrm>
            <a:off x="4006392" y="783644"/>
            <a:ext cx="7975076"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alibri" panose="020F0502020204030204"/>
                <a:ea typeface="+mn-ea"/>
                <a:cs typeface="+mn-cs"/>
              </a:rPr>
              <a:t>This KPI is to find out the Hourly rate for </a:t>
            </a:r>
            <a:r>
              <a:rPr lang="en-IN" sz="2000" dirty="0">
                <a:solidFill>
                  <a:prstClr val="black"/>
                </a:solidFill>
                <a:latin typeface="Calibri" panose="020F0502020204030204"/>
              </a:rPr>
              <a:t>Job Role Research Scientist</a:t>
            </a:r>
            <a:r>
              <a:rPr kumimoji="0" lang="en-IN" sz="2000" b="0" i="0" u="none" strike="noStrike" kern="1200" cap="none" spc="0" normalizeH="0" baseline="0" noProof="0" dirty="0">
                <a:ln>
                  <a:noFill/>
                </a:ln>
                <a:solidFill>
                  <a:prstClr val="black"/>
                </a:solidFill>
                <a:effectLst/>
                <a:uLnTx/>
                <a:uFillTx/>
                <a:latin typeface="Calibri" panose="020F0502020204030204"/>
                <a:ea typeface="+mn-ea"/>
                <a:cs typeface="+mn-cs"/>
              </a:rPr>
              <a:t> and for gender male.</a:t>
            </a:r>
          </a:p>
        </p:txBody>
      </p:sp>
      <p:sp>
        <p:nvSpPr>
          <p:cNvPr id="12" name="Rectangle: Rounded Corners 11">
            <a:extLst>
              <a:ext uri="{FF2B5EF4-FFF2-40B4-BE49-F238E27FC236}">
                <a16:creationId xmlns:a16="http://schemas.microsoft.com/office/drawing/2014/main" id="{F62509C6-D0E6-49B5-952F-31F607619C5F}"/>
              </a:ext>
            </a:extLst>
          </p:cNvPr>
          <p:cNvSpPr/>
          <p:nvPr/>
        </p:nvSpPr>
        <p:spPr>
          <a:xfrm>
            <a:off x="6180841" y="2428920"/>
            <a:ext cx="3487917" cy="669303"/>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dirty="0">
                <a:latin typeface="Amasis MT Pro Medium" panose="02040604050005020304" pitchFamily="18" charset="0"/>
              </a:rPr>
              <a:t>Insights from KPI 2:</a:t>
            </a:r>
            <a:endParaRPr lang="en-IN" dirty="0"/>
          </a:p>
        </p:txBody>
      </p:sp>
      <p:sp>
        <p:nvSpPr>
          <p:cNvPr id="14" name="Rectangle: Rounded Corners 13">
            <a:extLst>
              <a:ext uri="{FF2B5EF4-FFF2-40B4-BE49-F238E27FC236}">
                <a16:creationId xmlns:a16="http://schemas.microsoft.com/office/drawing/2014/main" id="{EBA60AE2-319A-8252-0823-AE365D901FDA}"/>
              </a:ext>
            </a:extLst>
          </p:cNvPr>
          <p:cNvSpPr/>
          <p:nvPr/>
        </p:nvSpPr>
        <p:spPr>
          <a:xfrm>
            <a:off x="6180841" y="3723787"/>
            <a:ext cx="5457825" cy="1745627"/>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t>This KPI is to find out the average hourly rate of male research scientists which is 114.45.</a:t>
            </a:r>
          </a:p>
          <a:p>
            <a:pPr algn="ctr"/>
            <a:endParaRPr lang="en-IN" dirty="0"/>
          </a:p>
        </p:txBody>
      </p:sp>
      <p:pic>
        <p:nvPicPr>
          <p:cNvPr id="5" name="Picture 4">
            <a:extLst>
              <a:ext uri="{FF2B5EF4-FFF2-40B4-BE49-F238E27FC236}">
                <a16:creationId xmlns:a16="http://schemas.microsoft.com/office/drawing/2014/main" id="{C0C8453F-4FD5-903C-D239-0192C42F02E0}"/>
              </a:ext>
            </a:extLst>
          </p:cNvPr>
          <p:cNvPicPr>
            <a:picLocks noChangeAspect="1"/>
          </p:cNvPicPr>
          <p:nvPr/>
        </p:nvPicPr>
        <p:blipFill>
          <a:blip r:embed="rId2"/>
          <a:stretch>
            <a:fillRect/>
          </a:stretch>
        </p:blipFill>
        <p:spPr>
          <a:xfrm>
            <a:off x="638175" y="3723787"/>
            <a:ext cx="4008416" cy="2780708"/>
          </a:xfrm>
          <a:prstGeom prst="rect">
            <a:avLst/>
          </a:prstGeom>
        </p:spPr>
      </p:pic>
    </p:spTree>
    <p:extLst>
      <p:ext uri="{BB962C8B-B14F-4D97-AF65-F5344CB8AC3E}">
        <p14:creationId xmlns:p14="http://schemas.microsoft.com/office/powerpoint/2010/main" val="943929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Flowchart: Document 31">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3C3F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881CDEC-73FF-560A-628E-92EFF5B012BA}"/>
              </a:ext>
            </a:extLst>
          </p:cNvPr>
          <p:cNvSpPr>
            <a:spLocks noGrp="1"/>
          </p:cNvSpPr>
          <p:nvPr>
            <p:ph type="title"/>
          </p:nvPr>
        </p:nvSpPr>
        <p:spPr>
          <a:xfrm>
            <a:off x="638175" y="142132"/>
            <a:ext cx="3248025" cy="2371148"/>
          </a:xfrm>
          <a:prstGeom prst="ellipse">
            <a:avLst/>
          </a:prstGeom>
        </p:spPr>
        <p:txBody>
          <a:bodyPr vert="horz" lIns="91440" tIns="45720" rIns="91440" bIns="45720" rtlCol="0" anchor="ctr">
            <a:noAutofit/>
          </a:bodyPr>
          <a:lstStyle/>
          <a:p>
            <a:pPr algn="ctr"/>
            <a:r>
              <a:rPr lang="en-US" sz="2800" b="1" kern="1200" dirty="0">
                <a:solidFill>
                  <a:srgbClr val="FFFFFF"/>
                </a:solidFill>
                <a:latin typeface="Amasis MT Pro Medium" panose="02040604050005020304" pitchFamily="18" charset="0"/>
              </a:rPr>
              <a:t>KPI 3</a:t>
            </a:r>
            <a:br>
              <a:rPr lang="en-US" sz="2800" b="1" kern="1200" dirty="0">
                <a:solidFill>
                  <a:srgbClr val="FFFFFF"/>
                </a:solidFill>
                <a:latin typeface="Amasis MT Pro Medium" panose="02040604050005020304" pitchFamily="18" charset="0"/>
              </a:rPr>
            </a:br>
            <a:r>
              <a:rPr lang="en-US" sz="2800" b="1" kern="1200" dirty="0">
                <a:solidFill>
                  <a:schemeClr val="bg1"/>
                </a:solidFill>
                <a:latin typeface="Amasis MT Pro Medium" panose="02040604050005020304" pitchFamily="18" charset="0"/>
              </a:rPr>
              <a:t>Attrition Rate</a:t>
            </a:r>
            <a:br>
              <a:rPr lang="en-US" sz="2800" b="1" kern="1200" dirty="0">
                <a:solidFill>
                  <a:schemeClr val="bg1"/>
                </a:solidFill>
                <a:latin typeface="Amasis MT Pro Medium" panose="02040604050005020304" pitchFamily="18" charset="0"/>
              </a:rPr>
            </a:br>
            <a:r>
              <a:rPr lang="en-US" sz="2800" b="1" kern="1200" dirty="0">
                <a:solidFill>
                  <a:schemeClr val="bg1"/>
                </a:solidFill>
                <a:latin typeface="Amasis MT Pro Medium" panose="02040604050005020304" pitchFamily="18" charset="0"/>
              </a:rPr>
              <a:t>Vs</a:t>
            </a:r>
            <a:br>
              <a:rPr lang="en-US" sz="2800" b="1" kern="1200" dirty="0">
                <a:solidFill>
                  <a:schemeClr val="bg1"/>
                </a:solidFill>
                <a:latin typeface="Amasis MT Pro Medium" panose="02040604050005020304" pitchFamily="18" charset="0"/>
              </a:rPr>
            </a:br>
            <a:r>
              <a:rPr lang="en-US" sz="2800" b="1" kern="1200" dirty="0">
                <a:solidFill>
                  <a:schemeClr val="bg1"/>
                </a:solidFill>
                <a:latin typeface="Amasis MT Pro Medium" panose="02040604050005020304" pitchFamily="18" charset="0"/>
              </a:rPr>
              <a:t>Monthly Income Stats</a:t>
            </a:r>
          </a:p>
        </p:txBody>
      </p:sp>
      <p:sp>
        <p:nvSpPr>
          <p:cNvPr id="13" name="TextBox 12">
            <a:extLst>
              <a:ext uri="{FF2B5EF4-FFF2-40B4-BE49-F238E27FC236}">
                <a16:creationId xmlns:a16="http://schemas.microsoft.com/office/drawing/2014/main" id="{1D048925-DD9D-208A-6FD2-BD0E8801E1B8}"/>
              </a:ext>
            </a:extLst>
          </p:cNvPr>
          <p:cNvSpPr txBox="1"/>
          <p:nvPr/>
        </p:nvSpPr>
        <p:spPr>
          <a:xfrm>
            <a:off x="4006392" y="783644"/>
            <a:ext cx="7975076" cy="707886"/>
          </a:xfrm>
          <a:prstGeom prst="rect">
            <a:avLst/>
          </a:prstGeom>
          <a:noFill/>
        </p:spPr>
        <p:txBody>
          <a:bodyPr wrap="square">
            <a:spAutoFit/>
          </a:bodyPr>
          <a:lstStyle/>
          <a:p>
            <a:pPr algn="just"/>
            <a:r>
              <a:rPr lang="en-US" sz="2000" kern="1200" dirty="0">
                <a:solidFill>
                  <a:schemeClr val="tx1"/>
                </a:solidFill>
                <a:latin typeface="+mn-lt"/>
                <a:ea typeface="+mn-ea"/>
                <a:cs typeface="+mn-cs"/>
              </a:rPr>
              <a:t>This KPI is to find out the relation </a:t>
            </a:r>
            <a:r>
              <a:rPr lang="en-US" sz="2000" dirty="0"/>
              <a:t>the </a:t>
            </a:r>
            <a:r>
              <a:rPr lang="en-US" sz="2000" kern="1200" dirty="0">
                <a:solidFill>
                  <a:schemeClr val="tx1"/>
                </a:solidFill>
                <a:latin typeface="+mn-lt"/>
                <a:ea typeface="+mn-ea"/>
                <a:cs typeface="+mn-cs"/>
              </a:rPr>
              <a:t>between monthly income and Attrition rate. </a:t>
            </a:r>
          </a:p>
        </p:txBody>
      </p:sp>
      <p:sp>
        <p:nvSpPr>
          <p:cNvPr id="12" name="Rectangle: Rounded Corners 11">
            <a:extLst>
              <a:ext uri="{FF2B5EF4-FFF2-40B4-BE49-F238E27FC236}">
                <a16:creationId xmlns:a16="http://schemas.microsoft.com/office/drawing/2014/main" id="{F62509C6-D0E6-49B5-952F-31F607619C5F}"/>
              </a:ext>
            </a:extLst>
          </p:cNvPr>
          <p:cNvSpPr/>
          <p:nvPr/>
        </p:nvSpPr>
        <p:spPr>
          <a:xfrm>
            <a:off x="6180841" y="2428920"/>
            <a:ext cx="3487917" cy="669303"/>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dirty="0">
                <a:latin typeface="Amasis MT Pro Medium" panose="02040604050005020304" pitchFamily="18" charset="0"/>
              </a:rPr>
              <a:t>Insights from KPI 3:</a:t>
            </a:r>
            <a:endParaRPr lang="en-IN" dirty="0"/>
          </a:p>
        </p:txBody>
      </p:sp>
      <p:sp>
        <p:nvSpPr>
          <p:cNvPr id="14" name="Rectangle: Rounded Corners 13">
            <a:extLst>
              <a:ext uri="{FF2B5EF4-FFF2-40B4-BE49-F238E27FC236}">
                <a16:creationId xmlns:a16="http://schemas.microsoft.com/office/drawing/2014/main" id="{EBA60AE2-319A-8252-0823-AE365D901FDA}"/>
              </a:ext>
            </a:extLst>
          </p:cNvPr>
          <p:cNvSpPr/>
          <p:nvPr/>
        </p:nvSpPr>
        <p:spPr>
          <a:xfrm>
            <a:off x="6180841" y="3723787"/>
            <a:ext cx="5457825" cy="1745627"/>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just"/>
            <a:r>
              <a:rPr lang="en-US" sz="1600" b="0" i="0" dirty="0"/>
              <a:t>Based on our analysis and visualization, it is evident that the Hardware Department has the lowest attrition rate of 49.44%, with an average monthly income of Rs. 26,091.20. On the other hand, the Research and Development Department has the highest attrition rate of 51.21%, with an average monthly income of Rs. 26,007.08</a:t>
            </a:r>
            <a:endParaRPr lang="en-US" sz="1600" dirty="0"/>
          </a:p>
          <a:p>
            <a:pPr algn="ctr"/>
            <a:endParaRPr lang="en-IN" dirty="0"/>
          </a:p>
        </p:txBody>
      </p:sp>
      <p:pic>
        <p:nvPicPr>
          <p:cNvPr id="4" name="Picture 3">
            <a:extLst>
              <a:ext uri="{FF2B5EF4-FFF2-40B4-BE49-F238E27FC236}">
                <a16:creationId xmlns:a16="http://schemas.microsoft.com/office/drawing/2014/main" id="{AEBBC3A9-B312-40F7-5825-352D88605D4D}"/>
              </a:ext>
            </a:extLst>
          </p:cNvPr>
          <p:cNvPicPr>
            <a:picLocks noChangeAspect="1"/>
          </p:cNvPicPr>
          <p:nvPr/>
        </p:nvPicPr>
        <p:blipFill>
          <a:blip r:embed="rId2"/>
          <a:stretch>
            <a:fillRect/>
          </a:stretch>
        </p:blipFill>
        <p:spPr>
          <a:xfrm>
            <a:off x="638174" y="3723786"/>
            <a:ext cx="4188349" cy="2884403"/>
          </a:xfrm>
          <a:prstGeom prst="rect">
            <a:avLst/>
          </a:prstGeom>
        </p:spPr>
      </p:pic>
    </p:spTree>
    <p:extLst>
      <p:ext uri="{BB962C8B-B14F-4D97-AF65-F5344CB8AC3E}">
        <p14:creationId xmlns:p14="http://schemas.microsoft.com/office/powerpoint/2010/main" val="3532289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Flowchart: Document 31">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3C3F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881CDEC-73FF-560A-628E-92EFF5B012BA}"/>
              </a:ext>
            </a:extLst>
          </p:cNvPr>
          <p:cNvSpPr>
            <a:spLocks noGrp="1"/>
          </p:cNvSpPr>
          <p:nvPr>
            <p:ph type="title"/>
          </p:nvPr>
        </p:nvSpPr>
        <p:spPr>
          <a:xfrm>
            <a:off x="698271" y="236401"/>
            <a:ext cx="3248025" cy="2371148"/>
          </a:xfrm>
          <a:prstGeom prst="ellipse">
            <a:avLst/>
          </a:prstGeom>
        </p:spPr>
        <p:txBody>
          <a:bodyPr vert="horz" lIns="91440" tIns="45720" rIns="91440" bIns="45720" rtlCol="0" anchor="ctr">
            <a:noAutofit/>
          </a:bodyPr>
          <a:lstStyle/>
          <a:p>
            <a:pPr algn="ctr"/>
            <a:r>
              <a:rPr lang="en-US" sz="3200" b="1" kern="1200" dirty="0">
                <a:solidFill>
                  <a:schemeClr val="bg1"/>
                </a:solidFill>
                <a:latin typeface="Amasis MT Pro Medium" panose="02040604050005020304" pitchFamily="18" charset="0"/>
              </a:rPr>
              <a:t>KPI 4</a:t>
            </a:r>
            <a:br>
              <a:rPr lang="en-US" sz="2800" b="1" kern="1200" dirty="0">
                <a:solidFill>
                  <a:schemeClr val="bg1"/>
                </a:solidFill>
                <a:latin typeface="Amasis MT Pro Medium" panose="02040604050005020304" pitchFamily="18" charset="0"/>
              </a:rPr>
            </a:br>
            <a:r>
              <a:rPr lang="en-US" sz="2800" b="1" kern="1200" dirty="0">
                <a:solidFill>
                  <a:schemeClr val="bg1"/>
                </a:solidFill>
                <a:latin typeface="Amasis MT Pro Medium" panose="02040604050005020304" pitchFamily="18" charset="0"/>
              </a:rPr>
              <a:t>Average Working Years for each Department</a:t>
            </a:r>
          </a:p>
        </p:txBody>
      </p:sp>
      <p:sp>
        <p:nvSpPr>
          <p:cNvPr id="13" name="TextBox 12">
            <a:extLst>
              <a:ext uri="{FF2B5EF4-FFF2-40B4-BE49-F238E27FC236}">
                <a16:creationId xmlns:a16="http://schemas.microsoft.com/office/drawing/2014/main" id="{1D048925-DD9D-208A-6FD2-BD0E8801E1B8}"/>
              </a:ext>
            </a:extLst>
          </p:cNvPr>
          <p:cNvSpPr txBox="1"/>
          <p:nvPr/>
        </p:nvSpPr>
        <p:spPr>
          <a:xfrm>
            <a:off x="4006392" y="783644"/>
            <a:ext cx="7975076" cy="400110"/>
          </a:xfrm>
          <a:prstGeom prst="rect">
            <a:avLst/>
          </a:prstGeom>
          <a:noFill/>
        </p:spPr>
        <p:txBody>
          <a:bodyPr wrap="square">
            <a:spAutoFit/>
          </a:bodyPr>
          <a:lstStyle/>
          <a:p>
            <a:pPr algn="just"/>
            <a:r>
              <a:rPr lang="en-US" sz="2000" kern="1200" dirty="0">
                <a:solidFill>
                  <a:schemeClr val="tx1"/>
                </a:solidFill>
                <a:latin typeface="+mn-lt"/>
                <a:ea typeface="+mn-ea"/>
                <a:cs typeface="+mn-cs"/>
              </a:rPr>
              <a:t>This KPI is to find out the Average working years for each department.</a:t>
            </a:r>
          </a:p>
        </p:txBody>
      </p:sp>
      <p:sp>
        <p:nvSpPr>
          <p:cNvPr id="12" name="Rectangle: Rounded Corners 11">
            <a:extLst>
              <a:ext uri="{FF2B5EF4-FFF2-40B4-BE49-F238E27FC236}">
                <a16:creationId xmlns:a16="http://schemas.microsoft.com/office/drawing/2014/main" id="{F62509C6-D0E6-49B5-952F-31F607619C5F}"/>
              </a:ext>
            </a:extLst>
          </p:cNvPr>
          <p:cNvSpPr/>
          <p:nvPr/>
        </p:nvSpPr>
        <p:spPr>
          <a:xfrm>
            <a:off x="6180841" y="2428920"/>
            <a:ext cx="3487917" cy="669303"/>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dirty="0">
                <a:latin typeface="Amasis MT Pro Medium" panose="02040604050005020304" pitchFamily="18" charset="0"/>
              </a:rPr>
              <a:t>Insights from KPI 4:</a:t>
            </a:r>
            <a:endParaRPr lang="en-IN" dirty="0"/>
          </a:p>
        </p:txBody>
      </p:sp>
      <p:sp>
        <p:nvSpPr>
          <p:cNvPr id="14" name="Rectangle: Rounded Corners 13">
            <a:extLst>
              <a:ext uri="{FF2B5EF4-FFF2-40B4-BE49-F238E27FC236}">
                <a16:creationId xmlns:a16="http://schemas.microsoft.com/office/drawing/2014/main" id="{EBA60AE2-319A-8252-0823-AE365D901FDA}"/>
              </a:ext>
            </a:extLst>
          </p:cNvPr>
          <p:cNvSpPr/>
          <p:nvPr/>
        </p:nvSpPr>
        <p:spPr>
          <a:xfrm>
            <a:off x="6180841" y="3723788"/>
            <a:ext cx="5457825" cy="132898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just"/>
            <a:r>
              <a:rPr lang="en-IN" sz="1600" dirty="0"/>
              <a:t>From this we can see the average working years in software department is high as compared to the rest of the departments and lowest is for Research &amp; Development Department.</a:t>
            </a:r>
            <a:endParaRPr lang="en-US" sz="1600" dirty="0"/>
          </a:p>
          <a:p>
            <a:pPr algn="ctr"/>
            <a:endParaRPr lang="en-IN" dirty="0"/>
          </a:p>
        </p:txBody>
      </p:sp>
      <p:pic>
        <p:nvPicPr>
          <p:cNvPr id="5" name="Picture 4">
            <a:extLst>
              <a:ext uri="{FF2B5EF4-FFF2-40B4-BE49-F238E27FC236}">
                <a16:creationId xmlns:a16="http://schemas.microsoft.com/office/drawing/2014/main" id="{A43DD1F7-74E4-0C5C-EECF-3502758BA8A8}"/>
              </a:ext>
            </a:extLst>
          </p:cNvPr>
          <p:cNvPicPr>
            <a:picLocks noChangeAspect="1"/>
          </p:cNvPicPr>
          <p:nvPr/>
        </p:nvPicPr>
        <p:blipFill>
          <a:blip r:embed="rId2"/>
          <a:stretch>
            <a:fillRect/>
          </a:stretch>
        </p:blipFill>
        <p:spPr>
          <a:xfrm>
            <a:off x="638175" y="3655187"/>
            <a:ext cx="4460722" cy="2896442"/>
          </a:xfrm>
          <a:prstGeom prst="rect">
            <a:avLst/>
          </a:prstGeom>
        </p:spPr>
      </p:pic>
      <p:sp>
        <p:nvSpPr>
          <p:cNvPr id="6" name="Rectangle: Rounded Corners 5">
            <a:extLst>
              <a:ext uri="{FF2B5EF4-FFF2-40B4-BE49-F238E27FC236}">
                <a16:creationId xmlns:a16="http://schemas.microsoft.com/office/drawing/2014/main" id="{AB85BDF5-A829-25A7-BC6B-12F2FCD256A1}"/>
              </a:ext>
            </a:extLst>
          </p:cNvPr>
          <p:cNvSpPr/>
          <p:nvPr/>
        </p:nvSpPr>
        <p:spPr>
          <a:xfrm>
            <a:off x="6180841" y="5222649"/>
            <a:ext cx="5457825" cy="1234712"/>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IN" sz="1600" dirty="0"/>
              <a:t>From the analysis we can conclude that average working years is approximately 20 for all the departments.</a:t>
            </a:r>
            <a:endParaRPr lang="en-US" sz="1600" dirty="0"/>
          </a:p>
          <a:p>
            <a:pPr algn="ctr"/>
            <a:endParaRPr lang="en-IN" dirty="0"/>
          </a:p>
        </p:txBody>
      </p:sp>
    </p:spTree>
    <p:extLst>
      <p:ext uri="{BB962C8B-B14F-4D97-AF65-F5344CB8AC3E}">
        <p14:creationId xmlns:p14="http://schemas.microsoft.com/office/powerpoint/2010/main" val="229894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Flowchart: Document 31">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3C3F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881CDEC-73FF-560A-628E-92EFF5B012BA}"/>
              </a:ext>
            </a:extLst>
          </p:cNvPr>
          <p:cNvSpPr>
            <a:spLocks noGrp="1"/>
          </p:cNvSpPr>
          <p:nvPr>
            <p:ph type="title"/>
          </p:nvPr>
        </p:nvSpPr>
        <p:spPr>
          <a:xfrm>
            <a:off x="638175" y="499620"/>
            <a:ext cx="3248025" cy="2013659"/>
          </a:xfrm>
          <a:prstGeom prst="ellipse">
            <a:avLst/>
          </a:prstGeom>
        </p:spPr>
        <p:txBody>
          <a:bodyPr vert="horz" lIns="91440" tIns="45720" rIns="91440" bIns="45720" rtlCol="0" anchor="ctr">
            <a:noAutofit/>
          </a:bodyPr>
          <a:lstStyle/>
          <a:p>
            <a:pPr algn="ctr"/>
            <a:r>
              <a:rPr lang="en-US" sz="3200" b="1" kern="1200" dirty="0">
                <a:solidFill>
                  <a:schemeClr val="bg1"/>
                </a:solidFill>
                <a:latin typeface="Amasis MT Pro Medium" panose="02040604050005020304" pitchFamily="18" charset="0"/>
              </a:rPr>
              <a:t>KPI 5</a:t>
            </a:r>
            <a:br>
              <a:rPr lang="en-US" sz="2800" b="1" kern="1200" dirty="0">
                <a:solidFill>
                  <a:schemeClr val="bg1"/>
                </a:solidFill>
                <a:latin typeface="Amasis MT Pro Medium" panose="02040604050005020304" pitchFamily="18" charset="0"/>
              </a:rPr>
            </a:br>
            <a:r>
              <a:rPr lang="en-US" sz="2800" b="1" kern="1200" dirty="0">
                <a:solidFill>
                  <a:srgbClr val="FFFFFF"/>
                </a:solidFill>
                <a:latin typeface="Amasis MT Pro Medium" panose="02040604050005020304" pitchFamily="18" charset="0"/>
              </a:rPr>
              <a:t>Job Role </a:t>
            </a:r>
            <a:br>
              <a:rPr lang="en-US" sz="2800" b="1" kern="1200" dirty="0">
                <a:solidFill>
                  <a:srgbClr val="FFFFFF"/>
                </a:solidFill>
                <a:latin typeface="Amasis MT Pro Medium" panose="02040604050005020304" pitchFamily="18" charset="0"/>
              </a:rPr>
            </a:br>
            <a:r>
              <a:rPr lang="en-US" sz="2800" b="1" kern="1200" dirty="0">
                <a:solidFill>
                  <a:srgbClr val="FFFFFF"/>
                </a:solidFill>
                <a:latin typeface="Amasis MT Pro Medium" panose="02040604050005020304" pitchFamily="18" charset="0"/>
              </a:rPr>
              <a:t>Vs </a:t>
            </a:r>
            <a:br>
              <a:rPr lang="en-US" sz="2800" b="1" kern="1200" dirty="0">
                <a:solidFill>
                  <a:srgbClr val="FFFFFF"/>
                </a:solidFill>
                <a:latin typeface="Amasis MT Pro Medium" panose="02040604050005020304" pitchFamily="18" charset="0"/>
              </a:rPr>
            </a:br>
            <a:r>
              <a:rPr lang="en-US" sz="2800" b="1" kern="1200" dirty="0">
                <a:solidFill>
                  <a:srgbClr val="FFFFFF"/>
                </a:solidFill>
                <a:latin typeface="Amasis MT Pro Medium" panose="02040604050005020304" pitchFamily="18" charset="0"/>
              </a:rPr>
              <a:t>Work Life Balance for Total Employees</a:t>
            </a:r>
            <a:endParaRPr lang="en-US" sz="2800" b="1" kern="1200" dirty="0">
              <a:solidFill>
                <a:schemeClr val="bg1"/>
              </a:solidFill>
              <a:latin typeface="Amasis MT Pro Medium" panose="02040604050005020304" pitchFamily="18" charset="0"/>
            </a:endParaRPr>
          </a:p>
        </p:txBody>
      </p:sp>
      <p:sp>
        <p:nvSpPr>
          <p:cNvPr id="13" name="TextBox 12">
            <a:extLst>
              <a:ext uri="{FF2B5EF4-FFF2-40B4-BE49-F238E27FC236}">
                <a16:creationId xmlns:a16="http://schemas.microsoft.com/office/drawing/2014/main" id="{1D048925-DD9D-208A-6FD2-BD0E8801E1B8}"/>
              </a:ext>
            </a:extLst>
          </p:cNvPr>
          <p:cNvSpPr txBox="1"/>
          <p:nvPr/>
        </p:nvSpPr>
        <p:spPr>
          <a:xfrm>
            <a:off x="4006392" y="783644"/>
            <a:ext cx="7975076" cy="707886"/>
          </a:xfrm>
          <a:prstGeom prst="rect">
            <a:avLst/>
          </a:prstGeom>
          <a:noFill/>
        </p:spPr>
        <p:txBody>
          <a:bodyPr wrap="square">
            <a:spAutoFit/>
          </a:bodyPr>
          <a:lstStyle/>
          <a:p>
            <a:pPr algn="just"/>
            <a:r>
              <a:rPr lang="en-US" sz="2000" kern="1200" dirty="0">
                <a:solidFill>
                  <a:schemeClr val="tx1"/>
                </a:solidFill>
                <a:latin typeface="+mn-lt"/>
                <a:ea typeface="+mn-ea"/>
                <a:cs typeface="+mn-cs"/>
              </a:rPr>
              <a:t>This KPI is to find out the Work life balance for total Employees on the basis Job Role.</a:t>
            </a:r>
          </a:p>
        </p:txBody>
      </p:sp>
      <p:sp>
        <p:nvSpPr>
          <p:cNvPr id="12" name="Rectangle: Rounded Corners 11">
            <a:extLst>
              <a:ext uri="{FF2B5EF4-FFF2-40B4-BE49-F238E27FC236}">
                <a16:creationId xmlns:a16="http://schemas.microsoft.com/office/drawing/2014/main" id="{F62509C6-D0E6-49B5-952F-31F607619C5F}"/>
              </a:ext>
            </a:extLst>
          </p:cNvPr>
          <p:cNvSpPr/>
          <p:nvPr/>
        </p:nvSpPr>
        <p:spPr>
          <a:xfrm>
            <a:off x="6180841" y="2428920"/>
            <a:ext cx="3487917" cy="669303"/>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dirty="0">
                <a:latin typeface="Amasis MT Pro Medium" panose="02040604050005020304" pitchFamily="18" charset="0"/>
              </a:rPr>
              <a:t>Insights from KPI 5:</a:t>
            </a:r>
            <a:endParaRPr lang="en-IN" dirty="0"/>
          </a:p>
        </p:txBody>
      </p:sp>
      <p:sp>
        <p:nvSpPr>
          <p:cNvPr id="14" name="Rectangle: Rounded Corners 13">
            <a:extLst>
              <a:ext uri="{FF2B5EF4-FFF2-40B4-BE49-F238E27FC236}">
                <a16:creationId xmlns:a16="http://schemas.microsoft.com/office/drawing/2014/main" id="{EBA60AE2-319A-8252-0823-AE365D901FDA}"/>
              </a:ext>
            </a:extLst>
          </p:cNvPr>
          <p:cNvSpPr/>
          <p:nvPr/>
        </p:nvSpPr>
        <p:spPr>
          <a:xfrm>
            <a:off x="6180841" y="3442030"/>
            <a:ext cx="5457825" cy="1436812"/>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just"/>
            <a:endParaRPr lang="en-IN" sz="1600" dirty="0"/>
          </a:p>
          <a:p>
            <a:pPr lvl="0" algn="just"/>
            <a:r>
              <a:rPr lang="en-IN" sz="1600" dirty="0"/>
              <a:t>From the analysis we can conclude that, For Research directors and the laboratory technicians the work life balance is poor. </a:t>
            </a:r>
          </a:p>
          <a:p>
            <a:pPr lvl="0" algn="just"/>
            <a:r>
              <a:rPr lang="en-IN" sz="1600" dirty="0"/>
              <a:t>For the Sales representatives , managers , Manufacturing Directors and the Sales executives the work life balance is fair.</a:t>
            </a:r>
          </a:p>
          <a:p>
            <a:pPr algn="ctr"/>
            <a:endParaRPr lang="en-IN" dirty="0"/>
          </a:p>
        </p:txBody>
      </p:sp>
      <p:sp>
        <p:nvSpPr>
          <p:cNvPr id="6" name="Rectangle: Rounded Corners 5">
            <a:extLst>
              <a:ext uri="{FF2B5EF4-FFF2-40B4-BE49-F238E27FC236}">
                <a16:creationId xmlns:a16="http://schemas.microsoft.com/office/drawing/2014/main" id="{AB85BDF5-A829-25A7-BC6B-12F2FCD256A1}"/>
              </a:ext>
            </a:extLst>
          </p:cNvPr>
          <p:cNvSpPr/>
          <p:nvPr/>
        </p:nvSpPr>
        <p:spPr>
          <a:xfrm>
            <a:off x="6180841" y="5118755"/>
            <a:ext cx="5457825" cy="1338606"/>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IN" sz="1600" dirty="0"/>
              <a:t>For Research Scientists , Healthcare representatives und Developers the work life balance is good.</a:t>
            </a:r>
          </a:p>
          <a:p>
            <a:pPr algn="just"/>
            <a:r>
              <a:rPr lang="en-IN" sz="1600" dirty="0"/>
              <a:t>For human resources the work life balance is excellent.</a:t>
            </a:r>
          </a:p>
          <a:p>
            <a:pPr algn="ctr"/>
            <a:endParaRPr lang="en-IN" dirty="0"/>
          </a:p>
        </p:txBody>
      </p:sp>
      <p:pic>
        <p:nvPicPr>
          <p:cNvPr id="4" name="Picture 3">
            <a:extLst>
              <a:ext uri="{FF2B5EF4-FFF2-40B4-BE49-F238E27FC236}">
                <a16:creationId xmlns:a16="http://schemas.microsoft.com/office/drawing/2014/main" id="{151BFFBE-5FDA-D0C7-1EFD-573AD3A9EC70}"/>
              </a:ext>
            </a:extLst>
          </p:cNvPr>
          <p:cNvPicPr>
            <a:picLocks noChangeAspect="1"/>
          </p:cNvPicPr>
          <p:nvPr/>
        </p:nvPicPr>
        <p:blipFill>
          <a:blip r:embed="rId2"/>
          <a:stretch>
            <a:fillRect/>
          </a:stretch>
        </p:blipFill>
        <p:spPr>
          <a:xfrm>
            <a:off x="638174" y="3648374"/>
            <a:ext cx="4075227" cy="2973252"/>
          </a:xfrm>
          <a:prstGeom prst="rect">
            <a:avLst/>
          </a:prstGeom>
        </p:spPr>
      </p:pic>
    </p:spTree>
    <p:extLst>
      <p:ext uri="{BB962C8B-B14F-4D97-AF65-F5344CB8AC3E}">
        <p14:creationId xmlns:p14="http://schemas.microsoft.com/office/powerpoint/2010/main" val="131609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Flowchart: Document 31">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3C3F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881CDEC-73FF-560A-628E-92EFF5B012BA}"/>
              </a:ext>
            </a:extLst>
          </p:cNvPr>
          <p:cNvSpPr>
            <a:spLocks noGrp="1"/>
          </p:cNvSpPr>
          <p:nvPr>
            <p:ph type="title"/>
          </p:nvPr>
        </p:nvSpPr>
        <p:spPr>
          <a:xfrm>
            <a:off x="638175" y="499620"/>
            <a:ext cx="3248025" cy="2013659"/>
          </a:xfrm>
          <a:prstGeom prst="ellipse">
            <a:avLst/>
          </a:prstGeom>
        </p:spPr>
        <p:txBody>
          <a:bodyPr vert="horz" lIns="91440" tIns="45720" rIns="91440" bIns="45720" rtlCol="0" anchor="ctr">
            <a:noAutofit/>
          </a:bodyPr>
          <a:lstStyle/>
          <a:p>
            <a:pPr algn="ctr"/>
            <a:r>
              <a:rPr lang="en-US" sz="2800" b="1" kern="1200" dirty="0">
                <a:solidFill>
                  <a:schemeClr val="bg1"/>
                </a:solidFill>
                <a:latin typeface="Amasis MT Pro Medium" panose="02040604050005020304" pitchFamily="18" charset="0"/>
              </a:rPr>
              <a:t>KPI 6 </a:t>
            </a:r>
            <a:br>
              <a:rPr lang="en-US" sz="2800" b="1" kern="1200" dirty="0">
                <a:solidFill>
                  <a:schemeClr val="bg1"/>
                </a:solidFill>
                <a:latin typeface="Amasis MT Pro Medium" panose="02040604050005020304" pitchFamily="18" charset="0"/>
              </a:rPr>
            </a:br>
            <a:r>
              <a:rPr lang="en-US" sz="2800" b="1" kern="1200" dirty="0">
                <a:solidFill>
                  <a:schemeClr val="bg1"/>
                </a:solidFill>
                <a:latin typeface="Amasis MT Pro Medium" panose="02040604050005020304" pitchFamily="18" charset="0"/>
              </a:rPr>
              <a:t>Attrition Rate </a:t>
            </a:r>
            <a:br>
              <a:rPr lang="en-US" sz="2800" b="1" kern="1200" dirty="0">
                <a:solidFill>
                  <a:schemeClr val="bg1"/>
                </a:solidFill>
                <a:latin typeface="Amasis MT Pro Medium" panose="02040604050005020304" pitchFamily="18" charset="0"/>
              </a:rPr>
            </a:br>
            <a:r>
              <a:rPr lang="en-US" sz="2800" b="1" kern="1200" dirty="0">
                <a:solidFill>
                  <a:schemeClr val="bg1"/>
                </a:solidFill>
                <a:latin typeface="Amasis MT Pro Medium" panose="02040604050005020304" pitchFamily="18" charset="0"/>
              </a:rPr>
              <a:t>Vs </a:t>
            </a:r>
            <a:br>
              <a:rPr lang="en-US" sz="2800" b="1" kern="1200" dirty="0">
                <a:solidFill>
                  <a:schemeClr val="bg1"/>
                </a:solidFill>
                <a:latin typeface="Amasis MT Pro Medium" panose="02040604050005020304" pitchFamily="18" charset="0"/>
              </a:rPr>
            </a:br>
            <a:r>
              <a:rPr lang="en-US" sz="2800" b="1" kern="1200" dirty="0">
                <a:solidFill>
                  <a:schemeClr val="bg1"/>
                </a:solidFill>
                <a:latin typeface="Amasis MT Pro Medium" panose="02040604050005020304" pitchFamily="18" charset="0"/>
              </a:rPr>
              <a:t>Years Since Last Promotion</a:t>
            </a:r>
          </a:p>
        </p:txBody>
      </p:sp>
      <p:sp>
        <p:nvSpPr>
          <p:cNvPr id="13" name="TextBox 12">
            <a:extLst>
              <a:ext uri="{FF2B5EF4-FFF2-40B4-BE49-F238E27FC236}">
                <a16:creationId xmlns:a16="http://schemas.microsoft.com/office/drawing/2014/main" id="{1D048925-DD9D-208A-6FD2-BD0E8801E1B8}"/>
              </a:ext>
            </a:extLst>
          </p:cNvPr>
          <p:cNvSpPr txBox="1"/>
          <p:nvPr/>
        </p:nvSpPr>
        <p:spPr>
          <a:xfrm>
            <a:off x="4006392" y="783644"/>
            <a:ext cx="7975076" cy="707886"/>
          </a:xfrm>
          <a:prstGeom prst="rect">
            <a:avLst/>
          </a:prstGeom>
          <a:noFill/>
        </p:spPr>
        <p:txBody>
          <a:bodyPr wrap="square">
            <a:spAutoFit/>
          </a:bodyPr>
          <a:lstStyle/>
          <a:p>
            <a:pPr algn="just"/>
            <a:r>
              <a:rPr lang="en-US" sz="2000" kern="1200" dirty="0">
                <a:solidFill>
                  <a:schemeClr val="tx1"/>
                </a:solidFill>
                <a:latin typeface="+mn-lt"/>
                <a:ea typeface="+mn-ea"/>
                <a:cs typeface="+mn-cs"/>
              </a:rPr>
              <a:t>This KPI is to find out the relation between Attrition rate vs Years since last Promotion</a:t>
            </a:r>
          </a:p>
        </p:txBody>
      </p:sp>
      <p:sp>
        <p:nvSpPr>
          <p:cNvPr id="12" name="Rectangle: Rounded Corners 11">
            <a:extLst>
              <a:ext uri="{FF2B5EF4-FFF2-40B4-BE49-F238E27FC236}">
                <a16:creationId xmlns:a16="http://schemas.microsoft.com/office/drawing/2014/main" id="{F62509C6-D0E6-49B5-952F-31F607619C5F}"/>
              </a:ext>
            </a:extLst>
          </p:cNvPr>
          <p:cNvSpPr/>
          <p:nvPr/>
        </p:nvSpPr>
        <p:spPr>
          <a:xfrm>
            <a:off x="6180841" y="2428920"/>
            <a:ext cx="3487917" cy="669303"/>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dirty="0">
                <a:latin typeface="Amasis MT Pro Medium" panose="02040604050005020304" pitchFamily="18" charset="0"/>
              </a:rPr>
              <a:t>Insights from KPI 6:</a:t>
            </a:r>
            <a:endParaRPr lang="en-IN" dirty="0"/>
          </a:p>
        </p:txBody>
      </p:sp>
      <p:sp>
        <p:nvSpPr>
          <p:cNvPr id="14" name="Rectangle: Rounded Corners 13">
            <a:extLst>
              <a:ext uri="{FF2B5EF4-FFF2-40B4-BE49-F238E27FC236}">
                <a16:creationId xmlns:a16="http://schemas.microsoft.com/office/drawing/2014/main" id="{EBA60AE2-319A-8252-0823-AE365D901FDA}"/>
              </a:ext>
            </a:extLst>
          </p:cNvPr>
          <p:cNvSpPr/>
          <p:nvPr/>
        </p:nvSpPr>
        <p:spPr>
          <a:xfrm>
            <a:off x="6180841" y="3442030"/>
            <a:ext cx="5457825" cy="1436812"/>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just"/>
            <a:endParaRPr lang="en-IN" sz="1600" dirty="0"/>
          </a:p>
          <a:p>
            <a:r>
              <a:rPr lang="en-IN" sz="1600" dirty="0"/>
              <a:t>For average years since Last year Promotion Sales Representative and Healthcare Representative has highest and lowest attrition rate respectively.</a:t>
            </a:r>
          </a:p>
          <a:p>
            <a:pPr algn="ctr"/>
            <a:endParaRPr lang="en-IN" dirty="0"/>
          </a:p>
        </p:txBody>
      </p:sp>
      <p:pic>
        <p:nvPicPr>
          <p:cNvPr id="5" name="Picture 4">
            <a:extLst>
              <a:ext uri="{FF2B5EF4-FFF2-40B4-BE49-F238E27FC236}">
                <a16:creationId xmlns:a16="http://schemas.microsoft.com/office/drawing/2014/main" id="{A4184879-B6CB-2E38-3336-90B7DBCB40EE}"/>
              </a:ext>
            </a:extLst>
          </p:cNvPr>
          <p:cNvPicPr>
            <a:picLocks noChangeAspect="1"/>
          </p:cNvPicPr>
          <p:nvPr/>
        </p:nvPicPr>
        <p:blipFill>
          <a:blip r:embed="rId2"/>
          <a:stretch>
            <a:fillRect/>
          </a:stretch>
        </p:blipFill>
        <p:spPr>
          <a:xfrm>
            <a:off x="377874" y="3496784"/>
            <a:ext cx="5044877" cy="2764115"/>
          </a:xfrm>
          <a:prstGeom prst="rect">
            <a:avLst/>
          </a:prstGeom>
          <a:solidFill>
            <a:schemeClr val="tx2"/>
          </a:solidFill>
          <a:ln w="38100" cap="sq">
            <a:noFill/>
            <a:prstDash val="solid"/>
            <a:miter lim="800000"/>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755794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Flowchart: Document 31">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3C3F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881CDEC-73FF-560A-628E-92EFF5B012BA}"/>
              </a:ext>
            </a:extLst>
          </p:cNvPr>
          <p:cNvSpPr>
            <a:spLocks noGrp="1"/>
          </p:cNvSpPr>
          <p:nvPr>
            <p:ph type="title"/>
          </p:nvPr>
        </p:nvSpPr>
        <p:spPr>
          <a:xfrm>
            <a:off x="638175" y="499620"/>
            <a:ext cx="3248025" cy="2013659"/>
          </a:xfrm>
          <a:prstGeom prst="ellipse">
            <a:avLst/>
          </a:prstGeom>
        </p:spPr>
        <p:txBody>
          <a:bodyPr vert="horz" lIns="91440" tIns="45720" rIns="91440" bIns="45720" rtlCol="0" anchor="ctr">
            <a:noAutofit/>
          </a:bodyPr>
          <a:lstStyle/>
          <a:p>
            <a:pPr algn="ctr"/>
            <a:r>
              <a:rPr lang="en-US" sz="2800" b="1" kern="1200" dirty="0">
                <a:solidFill>
                  <a:schemeClr val="bg1"/>
                </a:solidFill>
                <a:latin typeface="Amasis MT Pro Medium" panose="02040604050005020304" pitchFamily="18" charset="0"/>
              </a:rPr>
              <a:t>KPI 6 </a:t>
            </a:r>
            <a:br>
              <a:rPr lang="en-US" sz="2800" b="1" kern="1200" dirty="0">
                <a:solidFill>
                  <a:schemeClr val="bg1"/>
                </a:solidFill>
                <a:latin typeface="Amasis MT Pro Medium" panose="02040604050005020304" pitchFamily="18" charset="0"/>
              </a:rPr>
            </a:br>
            <a:r>
              <a:rPr lang="en-US" sz="2800" b="1" kern="1200" dirty="0">
                <a:solidFill>
                  <a:schemeClr val="bg1"/>
                </a:solidFill>
                <a:latin typeface="Amasis MT Pro Medium" panose="02040604050005020304" pitchFamily="18" charset="0"/>
              </a:rPr>
              <a:t>Attrition Rate </a:t>
            </a:r>
            <a:br>
              <a:rPr lang="en-US" sz="2800" b="1" kern="1200" dirty="0">
                <a:solidFill>
                  <a:schemeClr val="bg1"/>
                </a:solidFill>
                <a:latin typeface="Amasis MT Pro Medium" panose="02040604050005020304" pitchFamily="18" charset="0"/>
              </a:rPr>
            </a:br>
            <a:r>
              <a:rPr lang="en-US" sz="2800" b="1" kern="1200" dirty="0">
                <a:solidFill>
                  <a:schemeClr val="bg1"/>
                </a:solidFill>
                <a:latin typeface="Amasis MT Pro Medium" panose="02040604050005020304" pitchFamily="18" charset="0"/>
              </a:rPr>
              <a:t>Vs </a:t>
            </a:r>
            <a:br>
              <a:rPr lang="en-US" sz="2800" b="1" kern="1200" dirty="0">
                <a:solidFill>
                  <a:schemeClr val="bg1"/>
                </a:solidFill>
                <a:latin typeface="Amasis MT Pro Medium" panose="02040604050005020304" pitchFamily="18" charset="0"/>
              </a:rPr>
            </a:br>
            <a:r>
              <a:rPr lang="en-US" sz="2800" b="1" kern="1200" dirty="0">
                <a:solidFill>
                  <a:schemeClr val="bg1"/>
                </a:solidFill>
                <a:latin typeface="Amasis MT Pro Medium" panose="02040604050005020304" pitchFamily="18" charset="0"/>
              </a:rPr>
              <a:t>Years Since Last Promotion</a:t>
            </a:r>
          </a:p>
        </p:txBody>
      </p:sp>
      <p:sp>
        <p:nvSpPr>
          <p:cNvPr id="13" name="TextBox 12">
            <a:extLst>
              <a:ext uri="{FF2B5EF4-FFF2-40B4-BE49-F238E27FC236}">
                <a16:creationId xmlns:a16="http://schemas.microsoft.com/office/drawing/2014/main" id="{1D048925-DD9D-208A-6FD2-BD0E8801E1B8}"/>
              </a:ext>
            </a:extLst>
          </p:cNvPr>
          <p:cNvSpPr txBox="1"/>
          <p:nvPr/>
        </p:nvSpPr>
        <p:spPr>
          <a:xfrm>
            <a:off x="4006392" y="783644"/>
            <a:ext cx="7975076" cy="707886"/>
          </a:xfrm>
          <a:prstGeom prst="rect">
            <a:avLst/>
          </a:prstGeom>
          <a:noFill/>
        </p:spPr>
        <p:txBody>
          <a:bodyPr wrap="square">
            <a:spAutoFit/>
          </a:bodyPr>
          <a:lstStyle/>
          <a:p>
            <a:pPr algn="just"/>
            <a:r>
              <a:rPr lang="en-US" sz="2000" kern="1200" dirty="0">
                <a:solidFill>
                  <a:schemeClr val="tx1"/>
                </a:solidFill>
                <a:latin typeface="+mn-lt"/>
                <a:ea typeface="+mn-ea"/>
                <a:cs typeface="+mn-cs"/>
              </a:rPr>
              <a:t>This KPI is to find out the relation between Attrition rate vs Years since last Promotion</a:t>
            </a:r>
          </a:p>
        </p:txBody>
      </p:sp>
      <p:sp>
        <p:nvSpPr>
          <p:cNvPr id="12" name="Rectangle: Rounded Corners 11">
            <a:extLst>
              <a:ext uri="{FF2B5EF4-FFF2-40B4-BE49-F238E27FC236}">
                <a16:creationId xmlns:a16="http://schemas.microsoft.com/office/drawing/2014/main" id="{F62509C6-D0E6-49B5-952F-31F607619C5F}"/>
              </a:ext>
            </a:extLst>
          </p:cNvPr>
          <p:cNvSpPr/>
          <p:nvPr/>
        </p:nvSpPr>
        <p:spPr>
          <a:xfrm>
            <a:off x="6180841" y="2428920"/>
            <a:ext cx="3487917" cy="669303"/>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dirty="0">
                <a:latin typeface="Amasis MT Pro Medium" panose="02040604050005020304" pitchFamily="18" charset="0"/>
              </a:rPr>
              <a:t>Insights from KPI 6:</a:t>
            </a:r>
            <a:endParaRPr lang="en-IN" dirty="0"/>
          </a:p>
        </p:txBody>
      </p:sp>
      <p:sp>
        <p:nvSpPr>
          <p:cNvPr id="14" name="Rectangle: Rounded Corners 13">
            <a:extLst>
              <a:ext uri="{FF2B5EF4-FFF2-40B4-BE49-F238E27FC236}">
                <a16:creationId xmlns:a16="http://schemas.microsoft.com/office/drawing/2014/main" id="{EBA60AE2-319A-8252-0823-AE365D901FDA}"/>
              </a:ext>
            </a:extLst>
          </p:cNvPr>
          <p:cNvSpPr/>
          <p:nvPr/>
        </p:nvSpPr>
        <p:spPr>
          <a:xfrm>
            <a:off x="6180841" y="3442030"/>
            <a:ext cx="5457825" cy="1436812"/>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just"/>
            <a:endParaRPr lang="en-IN" sz="1600" dirty="0"/>
          </a:p>
          <a:p>
            <a:r>
              <a:rPr lang="en-IN" sz="1400" dirty="0"/>
              <a:t>For 0-5 years since Last year Promotion interval Research &amp; Development and Hardware departments has highest and lowest attrition rate respectively.</a:t>
            </a:r>
          </a:p>
          <a:p>
            <a:r>
              <a:rPr lang="en-IN" sz="1400" dirty="0"/>
              <a:t>For 6-10 years since last year promotion interval Human resources and software departments has highest and lowest attrition rate respectively.</a:t>
            </a:r>
          </a:p>
          <a:p>
            <a:pPr algn="ctr"/>
            <a:endParaRPr lang="en-IN" dirty="0"/>
          </a:p>
        </p:txBody>
      </p:sp>
      <p:pic>
        <p:nvPicPr>
          <p:cNvPr id="4" name="Picture 3">
            <a:extLst>
              <a:ext uri="{FF2B5EF4-FFF2-40B4-BE49-F238E27FC236}">
                <a16:creationId xmlns:a16="http://schemas.microsoft.com/office/drawing/2014/main" id="{B14CA7EC-452B-89A5-B320-09E8E8EE9239}"/>
              </a:ext>
            </a:extLst>
          </p:cNvPr>
          <p:cNvPicPr>
            <a:picLocks noChangeAspect="1"/>
          </p:cNvPicPr>
          <p:nvPr/>
        </p:nvPicPr>
        <p:blipFill>
          <a:blip r:embed="rId2"/>
          <a:stretch>
            <a:fillRect/>
          </a:stretch>
        </p:blipFill>
        <p:spPr>
          <a:xfrm>
            <a:off x="638175" y="3602252"/>
            <a:ext cx="3790950" cy="2836648"/>
          </a:xfrm>
          <a:prstGeom prst="rect">
            <a:avLst/>
          </a:prstGeom>
        </p:spPr>
      </p:pic>
      <p:sp>
        <p:nvSpPr>
          <p:cNvPr id="6" name="Rectangle: Rounded Corners 5">
            <a:extLst>
              <a:ext uri="{FF2B5EF4-FFF2-40B4-BE49-F238E27FC236}">
                <a16:creationId xmlns:a16="http://schemas.microsoft.com/office/drawing/2014/main" id="{07C02548-CBE6-D2B7-6B2C-C73ABEC2C398}"/>
              </a:ext>
            </a:extLst>
          </p:cNvPr>
          <p:cNvSpPr/>
          <p:nvPr/>
        </p:nvSpPr>
        <p:spPr>
          <a:xfrm>
            <a:off x="6180841" y="5002088"/>
            <a:ext cx="5457825" cy="1436812"/>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dirty="0"/>
              <a:t>For 11-15 years since last promotion interval support and sales departments has highest and lowest attrition rate respectively.</a:t>
            </a:r>
          </a:p>
          <a:p>
            <a:r>
              <a:rPr lang="en-IN" sz="1400" dirty="0"/>
              <a:t>For 16-20 years since last promotion interval software &amp; hardware departments has highest and lowest attrition respectively.</a:t>
            </a:r>
          </a:p>
          <a:p>
            <a:pPr algn="ctr"/>
            <a:endParaRPr lang="en-IN" dirty="0"/>
          </a:p>
        </p:txBody>
      </p:sp>
    </p:spTree>
    <p:extLst>
      <p:ext uri="{BB962C8B-B14F-4D97-AF65-F5344CB8AC3E}">
        <p14:creationId xmlns:p14="http://schemas.microsoft.com/office/powerpoint/2010/main" val="3614384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D669A-E737-591B-678D-D472FEAFB5DA}"/>
              </a:ext>
            </a:extLst>
          </p:cNvPr>
          <p:cNvSpPr>
            <a:spLocks noGrp="1"/>
          </p:cNvSpPr>
          <p:nvPr>
            <p:ph type="title"/>
          </p:nvPr>
        </p:nvSpPr>
        <p:spPr>
          <a:xfrm>
            <a:off x="643465" y="105087"/>
            <a:ext cx="10898485" cy="1096088"/>
          </a:xfrm>
        </p:spPr>
        <p:txBody>
          <a:bodyPr/>
          <a:lstStyle/>
          <a:p>
            <a:pPr algn="ctr" defTabSz="941832"/>
            <a:r>
              <a:rPr lang="en-IN" sz="6180" kern="1200" dirty="0">
                <a:solidFill>
                  <a:schemeClr val="tx1"/>
                </a:solidFill>
                <a:latin typeface="Amasis MT Pro Medium" panose="02040604050005020304" pitchFamily="18" charset="0"/>
                <a:ea typeface="+mj-ea"/>
                <a:cs typeface="+mj-cs"/>
              </a:rPr>
              <a:t>Conclusion :</a:t>
            </a:r>
            <a:endParaRPr lang="en-IN" dirty="0">
              <a:latin typeface="Amasis MT Pro Medium" panose="02040604050005020304" pitchFamily="18" charset="0"/>
            </a:endParaRPr>
          </a:p>
        </p:txBody>
      </p:sp>
      <p:graphicFrame>
        <p:nvGraphicFramePr>
          <p:cNvPr id="7" name="Text Placeholder 2">
            <a:extLst>
              <a:ext uri="{FF2B5EF4-FFF2-40B4-BE49-F238E27FC236}">
                <a16:creationId xmlns:a16="http://schemas.microsoft.com/office/drawing/2014/main" id="{F9A04D95-F775-5027-575C-8334968BC060}"/>
              </a:ext>
            </a:extLst>
          </p:cNvPr>
          <p:cNvGraphicFramePr/>
          <p:nvPr/>
        </p:nvGraphicFramePr>
        <p:xfrm>
          <a:off x="643466" y="1675252"/>
          <a:ext cx="10898485" cy="44402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38506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E57C7-1AA8-B71C-68C4-47C4021D3E24}"/>
              </a:ext>
            </a:extLst>
          </p:cNvPr>
          <p:cNvSpPr>
            <a:spLocks noGrp="1"/>
          </p:cNvSpPr>
          <p:nvPr>
            <p:ph type="title"/>
          </p:nvPr>
        </p:nvSpPr>
        <p:spPr>
          <a:xfrm>
            <a:off x="913775" y="160256"/>
            <a:ext cx="10364451" cy="518474"/>
          </a:xfrm>
        </p:spPr>
        <p:txBody>
          <a:bodyPr>
            <a:normAutofit fontScale="90000"/>
          </a:bodyPr>
          <a:lstStyle/>
          <a:p>
            <a:r>
              <a:rPr lang="en-US" b="1" dirty="0">
                <a:solidFill>
                  <a:schemeClr val="accent1">
                    <a:lumMod val="75000"/>
                  </a:schemeClr>
                </a:solidFill>
              </a:rPr>
              <a:t>Excel Dashboard Screenshot</a:t>
            </a:r>
            <a:endParaRPr lang="en-IN" b="1" dirty="0">
              <a:solidFill>
                <a:schemeClr val="accent1">
                  <a:lumMod val="75000"/>
                </a:schemeClr>
              </a:solidFill>
            </a:endParaRPr>
          </a:p>
        </p:txBody>
      </p:sp>
      <p:pic>
        <p:nvPicPr>
          <p:cNvPr id="5" name="Content Placeholder 4" descr="A close-up of a dashboard&#10;&#10;Description automatically generated">
            <a:extLst>
              <a:ext uri="{FF2B5EF4-FFF2-40B4-BE49-F238E27FC236}">
                <a16:creationId xmlns:a16="http://schemas.microsoft.com/office/drawing/2014/main" id="{4A381C3E-60D3-8509-266C-30F81CF69F9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1296" y="678730"/>
            <a:ext cx="11592117" cy="6102316"/>
          </a:xfrm>
        </p:spPr>
      </p:pic>
    </p:spTree>
    <p:extLst>
      <p:ext uri="{BB962C8B-B14F-4D97-AF65-F5344CB8AC3E}">
        <p14:creationId xmlns:p14="http://schemas.microsoft.com/office/powerpoint/2010/main" val="2451148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E57C7-1AA8-B71C-68C4-47C4021D3E24}"/>
              </a:ext>
            </a:extLst>
          </p:cNvPr>
          <p:cNvSpPr>
            <a:spLocks noGrp="1"/>
          </p:cNvSpPr>
          <p:nvPr>
            <p:ph type="title"/>
          </p:nvPr>
        </p:nvSpPr>
        <p:spPr>
          <a:xfrm>
            <a:off x="913775" y="160256"/>
            <a:ext cx="10364451" cy="518474"/>
          </a:xfrm>
        </p:spPr>
        <p:txBody>
          <a:bodyPr>
            <a:normAutofit fontScale="90000"/>
          </a:bodyPr>
          <a:lstStyle/>
          <a:p>
            <a:r>
              <a:rPr lang="en-US" b="1" dirty="0">
                <a:solidFill>
                  <a:schemeClr val="accent1">
                    <a:lumMod val="75000"/>
                  </a:schemeClr>
                </a:solidFill>
              </a:rPr>
              <a:t>PowerBI Dashboard Screenshot</a:t>
            </a:r>
            <a:endParaRPr lang="en-IN" b="1" dirty="0">
              <a:solidFill>
                <a:schemeClr val="accent1">
                  <a:lumMod val="75000"/>
                </a:schemeClr>
              </a:solidFill>
            </a:endParaRPr>
          </a:p>
        </p:txBody>
      </p:sp>
      <p:sp>
        <p:nvSpPr>
          <p:cNvPr id="3" name="Content Placeholder 2">
            <a:extLst>
              <a:ext uri="{FF2B5EF4-FFF2-40B4-BE49-F238E27FC236}">
                <a16:creationId xmlns:a16="http://schemas.microsoft.com/office/drawing/2014/main" id="{7671AFEB-5F3C-7394-F7D2-D689DD4B2257}"/>
              </a:ext>
            </a:extLst>
          </p:cNvPr>
          <p:cNvSpPr>
            <a:spLocks noGrp="1"/>
          </p:cNvSpPr>
          <p:nvPr>
            <p:ph idx="1"/>
          </p:nvPr>
        </p:nvSpPr>
        <p:spPr/>
        <p:txBody>
          <a:bodyPr/>
          <a:lstStyle/>
          <a:p>
            <a:endParaRPr lang="en-IN" dirty="0"/>
          </a:p>
        </p:txBody>
      </p:sp>
      <p:pic>
        <p:nvPicPr>
          <p:cNvPr id="6" name="Picture 5">
            <a:extLst>
              <a:ext uri="{FF2B5EF4-FFF2-40B4-BE49-F238E27FC236}">
                <a16:creationId xmlns:a16="http://schemas.microsoft.com/office/drawing/2014/main" id="{8CE7CABB-8B0E-2AE9-F259-9B9A7A79F3F9}"/>
              </a:ext>
            </a:extLst>
          </p:cNvPr>
          <p:cNvPicPr>
            <a:picLocks noChangeAspect="1"/>
          </p:cNvPicPr>
          <p:nvPr/>
        </p:nvPicPr>
        <p:blipFill>
          <a:blip r:embed="rId2"/>
          <a:stretch>
            <a:fillRect/>
          </a:stretch>
        </p:blipFill>
        <p:spPr>
          <a:xfrm>
            <a:off x="395927" y="678729"/>
            <a:ext cx="11434712" cy="6019015"/>
          </a:xfrm>
          <a:prstGeom prst="rect">
            <a:avLst/>
          </a:prstGeom>
        </p:spPr>
      </p:pic>
    </p:spTree>
    <p:extLst>
      <p:ext uri="{BB962C8B-B14F-4D97-AF65-F5344CB8AC3E}">
        <p14:creationId xmlns:p14="http://schemas.microsoft.com/office/powerpoint/2010/main" val="717428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E57C7-1AA8-B71C-68C4-47C4021D3E24}"/>
              </a:ext>
            </a:extLst>
          </p:cNvPr>
          <p:cNvSpPr>
            <a:spLocks noGrp="1"/>
          </p:cNvSpPr>
          <p:nvPr>
            <p:ph type="title"/>
          </p:nvPr>
        </p:nvSpPr>
        <p:spPr>
          <a:xfrm>
            <a:off x="913775" y="160256"/>
            <a:ext cx="10364451" cy="518474"/>
          </a:xfrm>
        </p:spPr>
        <p:txBody>
          <a:bodyPr>
            <a:normAutofit fontScale="90000"/>
          </a:bodyPr>
          <a:lstStyle/>
          <a:p>
            <a:r>
              <a:rPr lang="en-US" b="1" dirty="0">
                <a:solidFill>
                  <a:schemeClr val="accent1">
                    <a:lumMod val="75000"/>
                  </a:schemeClr>
                </a:solidFill>
              </a:rPr>
              <a:t>Tableau Dashboard Screenshot</a:t>
            </a:r>
            <a:endParaRPr lang="en-IN" b="1" dirty="0">
              <a:solidFill>
                <a:schemeClr val="accent1">
                  <a:lumMod val="75000"/>
                </a:schemeClr>
              </a:solidFill>
            </a:endParaRPr>
          </a:p>
        </p:txBody>
      </p:sp>
      <p:pic>
        <p:nvPicPr>
          <p:cNvPr id="5" name="Content Placeholder 4" descr="A screenshot of a computer&#10;&#10;Description automatically generated">
            <a:extLst>
              <a:ext uri="{FF2B5EF4-FFF2-40B4-BE49-F238E27FC236}">
                <a16:creationId xmlns:a16="http://schemas.microsoft.com/office/drawing/2014/main" id="{3D03F62A-621A-86D7-6160-7C88EF9F7F2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745" y="766627"/>
            <a:ext cx="12016509" cy="5931117"/>
          </a:xfrm>
        </p:spPr>
      </p:pic>
    </p:spTree>
    <p:extLst>
      <p:ext uri="{BB962C8B-B14F-4D97-AF65-F5344CB8AC3E}">
        <p14:creationId xmlns:p14="http://schemas.microsoft.com/office/powerpoint/2010/main" val="460969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29030" b="29030"/>
          <a:stretch>
            <a:fillRect/>
          </a:stretch>
        </p:blipFill>
        <p:spPr>
          <a:xfrm>
            <a:off x="1583" y="-242705"/>
            <a:ext cx="12188825" cy="3836895"/>
          </a:xfrm>
        </p:spPr>
      </p:pic>
      <p:sp>
        <p:nvSpPr>
          <p:cNvPr id="10" name="Rectangle 9">
            <a:extLst>
              <a:ext uri="{FF2B5EF4-FFF2-40B4-BE49-F238E27FC236}">
                <a16:creationId xmlns:a16="http://schemas.microsoft.com/office/drawing/2014/main" id="{0541FEE5-9FD0-BD4E-AC40-271020500E53}"/>
              </a:ext>
            </a:extLst>
          </p:cNvPr>
          <p:cNvSpPr/>
          <p:nvPr/>
        </p:nvSpPr>
        <p:spPr>
          <a:xfrm rot="10800000" flipV="1">
            <a:off x="1583" y="3960765"/>
            <a:ext cx="12188825" cy="290602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3" name="Rectangle 12">
            <a:extLst>
              <a:ext uri="{FF2B5EF4-FFF2-40B4-BE49-F238E27FC236}">
                <a16:creationId xmlns:a16="http://schemas.microsoft.com/office/drawing/2014/main" id="{CECC7C0A-675A-9C4D-A327-F35452FC1A08}"/>
              </a:ext>
            </a:extLst>
          </p:cNvPr>
          <p:cNvSpPr/>
          <p:nvPr/>
        </p:nvSpPr>
        <p:spPr>
          <a:xfrm rot="10800000" flipV="1">
            <a:off x="1582" y="3624405"/>
            <a:ext cx="12188825" cy="44923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Pentagon 8">
            <a:extLst>
              <a:ext uri="{FF2B5EF4-FFF2-40B4-BE49-F238E27FC236}">
                <a16:creationId xmlns:a16="http://schemas.microsoft.com/office/drawing/2014/main" id="{3AAEF994-7E08-3740-B8DE-3594FC8EBA52}"/>
              </a:ext>
            </a:extLst>
          </p:cNvPr>
          <p:cNvSpPr/>
          <p:nvPr/>
        </p:nvSpPr>
        <p:spPr>
          <a:xfrm>
            <a:off x="1588" y="3065427"/>
            <a:ext cx="7688179" cy="1779676"/>
          </a:xfrm>
          <a:prstGeom prst="homePlate">
            <a:avLst>
              <a:gd name="adj" fmla="val 67822"/>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TextBox 11">
            <a:extLst>
              <a:ext uri="{FF2B5EF4-FFF2-40B4-BE49-F238E27FC236}">
                <a16:creationId xmlns:a16="http://schemas.microsoft.com/office/drawing/2014/main" id="{3D941E9C-FA32-F74C-9127-766BE39491C6}"/>
              </a:ext>
            </a:extLst>
          </p:cNvPr>
          <p:cNvSpPr txBox="1"/>
          <p:nvPr/>
        </p:nvSpPr>
        <p:spPr>
          <a:xfrm>
            <a:off x="203811" y="3624405"/>
            <a:ext cx="6609124" cy="707886"/>
          </a:xfrm>
          <a:prstGeom prst="rect">
            <a:avLst/>
          </a:prstGeom>
          <a:noFill/>
          <a:ln>
            <a:noFill/>
          </a:ln>
        </p:spPr>
        <p:txBody>
          <a:bodyPr wrap="square" rtlCol="0">
            <a:spAutoFit/>
          </a:bodyPr>
          <a:lstStyle/>
          <a:p>
            <a:r>
              <a:rPr lang="en-US" sz="4000" b="1" dirty="0">
                <a:solidFill>
                  <a:schemeClr val="bg1"/>
                </a:solidFill>
                <a:latin typeface="Poppins SemiBold" pitchFamily="2" charset="77"/>
                <a:ea typeface="Roboto Medium" panose="02000000000000000000" pitchFamily="2" charset="0"/>
                <a:cs typeface="Poppins SemiBold" pitchFamily="2" charset="77"/>
              </a:rPr>
              <a:t>HR Analytics</a:t>
            </a:r>
          </a:p>
        </p:txBody>
      </p:sp>
    </p:spTree>
    <p:extLst>
      <p:ext uri="{BB962C8B-B14F-4D97-AF65-F5344CB8AC3E}">
        <p14:creationId xmlns:p14="http://schemas.microsoft.com/office/powerpoint/2010/main" val="37611433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Office Theme</Template>
  <TotalTime>182</TotalTime>
  <Words>1056</Words>
  <Application>Microsoft Office PowerPoint</Application>
  <PresentationFormat>Widescreen</PresentationFormat>
  <Paragraphs>85</Paragraphs>
  <Slides>17</Slides>
  <Notes>0</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17</vt:i4>
      </vt:variant>
    </vt:vector>
  </HeadingPairs>
  <TitlesOfParts>
    <vt:vector size="30" baseType="lpstr">
      <vt:lpstr>Amasis MT Pro Medium</vt:lpstr>
      <vt:lpstr>Aptos</vt:lpstr>
      <vt:lpstr>Aptos Display</vt:lpstr>
      <vt:lpstr>Arial</vt:lpstr>
      <vt:lpstr>Calibri</vt:lpstr>
      <vt:lpstr>Calibri Light</vt:lpstr>
      <vt:lpstr>Poppins SemiBold</vt:lpstr>
      <vt:lpstr>Tahoma</vt:lpstr>
      <vt:lpstr>Tw Cen MT</vt:lpstr>
      <vt:lpstr>Wingdings</vt:lpstr>
      <vt:lpstr>Office Theme</vt:lpstr>
      <vt:lpstr>1_Office Theme</vt:lpstr>
      <vt:lpstr>1_Droplet</vt:lpstr>
      <vt:lpstr>PowerPoint Presentation</vt:lpstr>
      <vt:lpstr>AGENDA :</vt:lpstr>
      <vt:lpstr>Introduction</vt:lpstr>
      <vt:lpstr>Business Objective:</vt:lpstr>
      <vt:lpstr>Data Overview and Methodology</vt:lpstr>
      <vt:lpstr>KPI 1 Average Attrition rate for all Departments</vt:lpstr>
      <vt:lpstr>KPI 2 Average Hourly rate of Male Research Scientist</vt:lpstr>
      <vt:lpstr>KPI 3 Attrition Rate Vs Monthly Income Stats</vt:lpstr>
      <vt:lpstr>KPI 4 Average Working Years for each Department</vt:lpstr>
      <vt:lpstr>KPI 5 Job Role  Vs  Work Life Balance for Total Employees</vt:lpstr>
      <vt:lpstr>KPI 6  Attrition Rate  Vs  Years Since Last Promotion</vt:lpstr>
      <vt:lpstr>KPI 6  Attrition Rate  Vs  Years Since Last Promotion</vt:lpstr>
      <vt:lpstr>Conclusion :</vt:lpstr>
      <vt:lpstr>Excel Dashboard Screenshot</vt:lpstr>
      <vt:lpstr>PowerBI Dashboard Screenshot</vt:lpstr>
      <vt:lpstr>Tableau Dashboard Screenshot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ManthanPrakashOza</dc:creator>
  <cp:lastModifiedBy>Rohit yadav</cp:lastModifiedBy>
  <cp:revision>5</cp:revision>
  <dcterms:created xsi:type="dcterms:W3CDTF">2024-08-10T09:39:52Z</dcterms:created>
  <dcterms:modified xsi:type="dcterms:W3CDTF">2024-08-11T10:07:54Z</dcterms:modified>
</cp:coreProperties>
</file>